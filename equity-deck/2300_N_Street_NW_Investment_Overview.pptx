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60520" y="0"/>
            <a:ext cx="4983480" cy="51435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60520" y="2286000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[ Insert 2300 N Street property photograph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5B400"/>
                </a:solidFill>
                <a:latin typeface="Georgia"/>
              </a:rPr>
              <a:t>Lincoln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 Light"/>
              </a:rPr>
              <a:t>Investment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56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2300 N Street, NW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2044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Washington, DC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West End Submarket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519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Lincoln Property Company  |  Oaktree Capital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9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Confidential Equity Memorandum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6916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7373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Property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52360" y="173736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395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Tenancy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95728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0540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054096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Property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2300 N Street is a 282,943 SF, 8-story Class A office building in Washington, DC's supply-constrained West End submarket. Built in 1986 and renovated in 2018, the asset is 87.8% leased with 9.4 years of WALT and best-in-class amenities.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74519"/>
          <a:ext cx="498348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1188720"/>
                <a:gridCol w="1051560"/>
                <a:gridCol w="1417320"/>
              </a:tblGrid>
              <a:tr h="33147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D3000"/>
                          </a:solidFill>
                          <a:latin typeface="Calibri"/>
                        </a:rPr>
                        <a:t>Property Description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Size (SF):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282,943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Submarket: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West End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Stories: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% Leased: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Year Built / Reno: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1986 / 2018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In-Place WALT: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9.4 Years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Typical Floor: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38,391 SF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Parking: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300 spaces (0.98/1,000 SF)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Building Class: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Class 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Zoning: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MU-10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Land Area: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1.13 AC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Metro: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Foggy Bottom-GWU (9-min walk)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Amenities: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Fitness, Roof Terrace,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Conferencing, Restaurant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Ownership: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Lincoln Property Co. / Oaktree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532120" y="9601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7373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Property exterior photograph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27889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5661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Roof terrace / lobby photograph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Value Considerations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05840"/>
            <a:ext cx="837590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Hold Period: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A 5-year hold is consistent with target investment horizons for active office capital and aligns with available financing.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Return Metrics: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With material near-term leasing and capital, investors are likely to solve for an 18–20% levered IRR and a 12–14% stabilized return on cost.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Capital Projections: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Prior ownership invested ~$22.0M ($76 PSF) in base-building and amenity upgrades; $1.3M ($5 PSF) of outstanding TI/LCs is credited at closing; ES assumes a buyer underwrites $3.0M ($10 PSF) of near-term capital following sale.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Rents: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Eastdil is underwriting typical office rents of $55.00–63.50 FSG, building on recent leasing at the asset.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Stabilized Occupancy: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Occupancy steps to 77% after Aspen's downsize and Plan International's 2027 termination; ~40,000 SF of leasing in the first three years stabilizes occupancy at 90%.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Real Estate Taxes: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assumes a 20% decrease in assessed value following sale, to $104.6M ($370 PSF), growing at inflation thereafter.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Financing: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The most efficient structure is a floating-rate execution — 65% Initial LTV with 65% Future Funding for leasing/capex at SOFR + 3.75%.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Exit Cap Rate: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underwrote a 9.5% exit cap, a $100.9M ($357 PSF) residual; absent clarity on Jackson &amp; Campbell, investors underwrite a vacate (~50 bps of residual impact).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Levered-IRR sensitivity — 5-year hold beginning October 2026; 65% LTV / 65% future funding at SOFR + 3.75% (7.43% coupon).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783080"/>
          <a:ext cx="54864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822960"/>
                <a:gridCol w="822960"/>
                <a:gridCol w="822960"/>
                <a:gridCol w="822960"/>
                <a:gridCol w="822960"/>
              </a:tblGrid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Levered IRR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3D3000"/>
                          </a:solidFill>
                          <a:latin typeface="Calibri"/>
                        </a:rPr>
                        <a:t>Exit Cap Rate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9.50%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10.00%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17.51%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16.37%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15.24%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13.01%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$72,500,000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19.33%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18.22%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16.03%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$70,000,000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21.19%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20.10%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3D3000"/>
                          </a:solidFill>
                          <a:latin typeface="Calibri"/>
                        </a:rPr>
                        <a:t>19.03%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$67,500,000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23.08%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19.95%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25.02%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23.99%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26480" y="173736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At ~$70.0M / $247 PSF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In-Place Cap Rate (87.8% occ)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48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11.93%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4597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Adjusted Cap Rate (76.8% occ)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597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8.86%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77063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Stabilized Return on Cost (Yr 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770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12.04%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81527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Average Cash 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81527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9.42%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39242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Levered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392423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19.03%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033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Equity Multiple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7033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2.14x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14215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Reversion PSF (9.50% exit)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14215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$357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16052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Loan balance of $100M implies a ~25–35% discount to par at the ES value range. Source: Eastdil Secured Opinion of Value (Jun-2026).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Tenancy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Tenant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960120"/>
          <a:ext cx="5440680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40080"/>
                <a:gridCol w="822960"/>
                <a:gridCol w="640080"/>
                <a:gridCol w="868680"/>
                <a:gridCol w="1051560"/>
              </a:tblGrid>
              <a:tr h="27432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D3000"/>
                          </a:solidFill>
                          <a:latin typeface="Calibri"/>
                        </a:rPr>
                        <a:t>Tenant Summary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Floors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Expiration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Gross Rent ($/SF)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¹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6-8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91,395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$71.56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BlackIvy / CINQCARE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 &amp; 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25,720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$55.87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Bezos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4-5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May-32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$28.31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²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$51.47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Two Birds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17,275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$52.53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16,722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Nov-36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$57.32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Plan International ³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15,485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Oct-27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$67.03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Sep-37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Bar Angie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Mar-40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$44.25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Total Leased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248,300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9.4 yrs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$58.26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0" y="960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 Light"/>
              </a:rPr>
              <a:t>Key Considerations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2588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88% leased today, stepping to 77% after Aspen's 6th-floor downsize — nearly 10 years of WALT.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65,000+ SF (23% of NRA) of new leasing since Q4 2024; ~$1.3M of TI/LCs credited to a buyer at close.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Anchor Aspen Institute extended through May-2041 across floors 6–8.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Roll risk to watch: Plan International termination (Nov-2027) and Jackson &amp; Campbell sublease marketing ahead of its Aug-2035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95959"/>
                </a:solidFill>
                <a:latin typeface="Calibri"/>
              </a:rPr>
              <a:t>¹ Gives back 15,536 SF Dec-2026, extends through May-2041.   ² 100% of space on sublease market; ES assumes vacate at expiry.   ³ Subleased; termination effective Nov-2027.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Leasing Activity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966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2300 N STREET, NW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Executed Leasing — Trailing 24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241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00200"/>
          <a:ext cx="8375903" cy="3063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74519"/>
                <a:gridCol w="777240"/>
                <a:gridCol w="685800"/>
                <a:gridCol w="548640"/>
                <a:gridCol w="777240"/>
                <a:gridCol w="777240"/>
                <a:gridCol w="868680"/>
                <a:gridCol w="658368"/>
                <a:gridCol w="749808"/>
                <a:gridCol w="658368"/>
              </a:tblGrid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Commence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Rent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Free Rent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Reimb.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0700-0800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75,859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26.8%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$63.50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14 Yr 5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0450-0460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6/1/2026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11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$100.00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5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Storage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0210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2,841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6/20/2025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$25.34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 Yr 10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0300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0610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10,280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12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$135.00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Bezos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0400-0500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$27.35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Global Impact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0501A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4,039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$44.00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Timmons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0410B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$46.51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 Yr 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0100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10/1/2024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$41.71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15 Yr 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$281.85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Total / Avg.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165,414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58.5%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$52.80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139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7.2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$22.01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  Rents shown gross.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Market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Washington, DC Metro Office Market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60120"/>
            <a:ext cx="4114800" cy="365760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D3000"/>
                </a:solidFill>
                <a:latin typeface="Calibri"/>
              </a:rPr>
              <a:t>The Good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45152" y="960120"/>
            <a:ext cx="4114800" cy="36576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What's Challenging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463040"/>
            <a:ext cx="4069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Office trade volume is accelerating — 3rd-highest 2025 US volume and 2nd-highest number of transactions.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The return-to-office mandate has increased DC activity and added contractor demand.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Pricing bands for office have formed.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Newer-vintage product outperforms — nearly all net absorption is in post-2010 built/renovated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Record rents are being achieved for new construction and high-quality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Minimal new supply plus 6.9 MSF of office→residential/hotel conversions will keep improving fundamentals.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1463040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DC headlines (DOGE, GSA footprint, tariffs, National Guard, shutdown) create hurdles for investors.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Headline vacancy above 20% in most submarkets is forcing heightened concessions, especially for commodity product.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Leasing velocity remains mixed outside of Class-A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Investors are underwriting significant capital amid escalating costs for non-trophy assets.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0" y="1828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595959"/>
                </a:solidFill>
                <a:latin typeface="Calibri"/>
              </a:rPr>
              <a:t>2300 N STREET, NW  |  ES OPINION OF VALUE  |  JUN-26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F3864"/>
                </a:solidFill>
                <a:latin typeface="Calibri"/>
              </a:rPr>
              <a:t>Washington, DC Recent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8961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A9C7"/>
                </a:solidFill>
                <a:latin typeface="Calibri"/>
              </a:rPr>
              <a:t>Class-A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71600"/>
          <a:ext cx="8375903" cy="3310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96112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888 16th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Hamilton Square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799 9th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1330 Connecticut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1401 New York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901 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District Wharf</a:t>
                      </a:r>
                    </a:p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(670/680/1000 Maine)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District Wharf</a:t>
                      </a:r>
                    </a:p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(800 Maine)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2000 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1099 New York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Jul-24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Mar-24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Size (SF)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107,000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248,000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205,000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259,000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284,000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211,000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233,000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181,000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94%→81%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8.50%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11.50→9.00%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6.50%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Price (PSF)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$700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$127.5M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$514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$100.0M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$488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$92.5M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$358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$163.3M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$577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$402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$386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$628.0M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$835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$63.2M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$425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$140.2M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$600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$95.0M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$525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Spear Street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FarmView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Quadrangle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Trammell Crow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Meadow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CommonWealth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CalPERS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Brookfield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AussieSuper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AXA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Hoffman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Hoffman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Tishman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Deka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Credit Suisse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Condo Regime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Seller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Financing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0" y="1828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595959"/>
                </a:solidFill>
                <a:latin typeface="Calibri"/>
              </a:rPr>
              <a:t>2300 N STREET, NW  |  ES OPINION OF VALUE  |  JUN-26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F3864"/>
                </a:solidFill>
                <a:latin typeface="Calibri"/>
              </a:rPr>
              <a:t>Washington, DC Recent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8961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A9C7"/>
                </a:solidFill>
                <a:latin typeface="Calibri"/>
              </a:rPr>
              <a:t>Commodity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25880"/>
          <a:ext cx="8375898" cy="33558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41248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700 6th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1350 Eye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1775 Penn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Sumner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Square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2445 M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Watergate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1400 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2033 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1325 G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1750 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300 M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2101 L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1250 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2001 L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1899 L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Under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Apr-26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Mar-26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Oct-25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Jul-25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Dec-24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Nov-24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Oct-24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Mar-24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Size (SF)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306,000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415,861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156,482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242,000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309,000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128,767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305,259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282,354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375,000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196,490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172,135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150,502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Year Built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1989/14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1985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1986/19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1972/02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1982/24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1975/19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1969/04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1975/07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1992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1986/14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1978/22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80→75%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93→20%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7.7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7.4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11.8%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12.8%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(ROC)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9.0→8.5%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Price (PSF)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$85M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$278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$130M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$348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$37.5M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$240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$63.0M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$261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$101.0M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$337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$52.5M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$170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$35.5M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$20.3M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$170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$25.0M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$82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$28.8M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$232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$28.0M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$110.0M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$293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$27.5M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$137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$30.55M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$26.65M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Confid.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Vireon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Eagle Cliff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JetSet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In-Rel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Farmview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Douglas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Confid.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ELV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Banyan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Melrose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Principal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(Lender)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MetLife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Woodwind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Mesa West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Elme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ARA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US Bank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State Farm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Potomac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JBGS /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NW Mutual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Equity CW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AEW /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Swiss RE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0" y="1828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595959"/>
                </a:solidFill>
                <a:latin typeface="Calibri"/>
              </a:rPr>
              <a:t>2300 N STREET, NW  |  ES OPINION OF VALUE  |  JUN-26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F3864"/>
                </a:solidFill>
                <a:latin typeface="Calibri"/>
              </a:rPr>
              <a:t>Washington, DC Recent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8961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A9C7"/>
                </a:solidFill>
                <a:latin typeface="Calibri"/>
              </a:rPr>
              <a:t>Select ES Office Financings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25880"/>
          <a:ext cx="8375904" cy="3355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0432"/>
                <a:gridCol w="900684"/>
                <a:gridCol w="900684"/>
                <a:gridCol w="900684"/>
                <a:gridCol w="900684"/>
                <a:gridCol w="900684"/>
                <a:gridCol w="900684"/>
                <a:gridCol w="900684"/>
                <a:gridCol w="900684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Reston Metro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Plaza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799 9th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St, NW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Square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1401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New York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Three-Asset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901 K St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Boro Tower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Under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Jul-25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May-25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Comstock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Jemal Equities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Elliott / MC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PRP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Rockefeller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TMG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769,830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203,329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694,436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283,190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201,976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791,098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436,795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94→81%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98→88%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Loan Amount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$299.1M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$83.1M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$340.0M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$118.5M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$73.4M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$278.3M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$76.1M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$175.0M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Loan PSF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$418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$344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$352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$346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$401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LTV / LTC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75%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75% LTC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69% LTC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(68%I/75%FF)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68% LTC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(65%I/84%FF)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67.5% LTC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(60%I/100%FF)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In-Place DY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12.6%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11.5→10.0%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Lender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SASB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Bank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Balance Sheet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Pricing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~4.25%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~2.75%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4.05%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3.25%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4.15%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+ 4.75%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(+4.40% b/d)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17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Matt Nicholson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Executive Vice President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mnicholson@lpc.com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Jake Guttman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Director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jguttman@lpc.com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Jackson Coviello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Assistant Vice President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jcoviello@lpc.com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Jared Hicks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jahicks@lpc.com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1605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Lincoln Property Company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101 Constitution Ave. NW, Suite 325 East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Washington, DC 20001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www.lpc.com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