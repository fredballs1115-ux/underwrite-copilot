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60520" y="0"/>
            <a:ext cx="4983480" cy="51435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60520" y="2286000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[ Insert 2300 N Street property photograph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5B400"/>
                </a:solidFill>
                <a:latin typeface="Georgia"/>
              </a:rPr>
              <a:t>Lincoln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 Light"/>
              </a:rPr>
              <a:t>Investment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56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2300 N Street, NW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2044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Washington, DC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West End Submarket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519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Lincoln Property Company  |  Oaktree Capital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9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Confidential Equity Memorandum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6916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6002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Property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52360" y="160020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1671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167128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7340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Tenancy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734056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30098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3300984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Property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28032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646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64608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2300 N Street is a 282,943 SF, 8-story Class A office building in Washington, DC's supply-constrained West End submarket. Built in 1986 and renovated in 2018, the asset is 87.8% leased with 9.4 years of WALT and best-in-class amenities.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74519"/>
          <a:ext cx="4983480" cy="2926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1188720"/>
                <a:gridCol w="1051560"/>
                <a:gridCol w="1417320"/>
              </a:tblGrid>
              <a:tr h="36576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D3000"/>
                          </a:solidFill>
                          <a:latin typeface="Calibri"/>
                        </a:rPr>
                        <a:t>Property Description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Size (SF):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282,943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Submarket: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West End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Stories: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% Leased: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Year Built / Reno: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1986 / 2018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In-Place WALT: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9.4 Years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Typical Floor: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38,391 SF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Parking: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300 spaces (0.98/1,000 SF)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Building Class: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Class A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Zoning: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MU-10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Land Area: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1.13 AC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Metro: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Foggy Bottom-GWU (9-min walk)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Amenities: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Fitness, Roof Terrace,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Conferencing, Restaurant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Ownership: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Lincoln Property Co. / Oaktree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532120" y="9601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7373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Property exterior photograph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27889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5661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Roof terrace / lobby photograph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The Opportunity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28032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646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64608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Calibri"/>
              </a:rPr>
              <a:t>Recapitalize 2300 N Street alongside a new equity partner by acquiring the asset from the existing lender at a substantial discount to both the $100M loan balance and prior ownership basis – resetting cost basis ahead of a West End recovery.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783080"/>
            <a:ext cx="2697480" cy="105156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" y="1783080"/>
            <a:ext cx="2697480" cy="82296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99339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262626"/>
                </a:solidFill>
                <a:latin typeface="Calibri"/>
              </a:rPr>
              <a:t>~$65 – 75M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46888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95959"/>
                </a:solidFill>
                <a:latin typeface="Calibri"/>
              </a:rPr>
              <a:t>Eastdil opinion of value
($230 – $265 PSF)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7832" y="1783080"/>
            <a:ext cx="2697480" cy="105156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27832" y="1783080"/>
            <a:ext cx="2697480" cy="82296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27832" y="199339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262626"/>
                </a:solidFill>
                <a:latin typeface="Calibri"/>
              </a:rPr>
              <a:t>$100M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46888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95959"/>
                </a:solidFill>
                <a:latin typeface="Calibri"/>
              </a:rPr>
              <a:t>Existing loan balance
(~25 – 35% discount to par)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6" y="1783080"/>
            <a:ext cx="2697480" cy="105156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71616" y="1783080"/>
            <a:ext cx="2697480" cy="82296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199339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262626"/>
                </a:solidFill>
                <a:latin typeface="Calibri"/>
              </a:rPr>
              <a:t>$540 PSF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1616" y="246888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95959"/>
                </a:solidFill>
                <a:latin typeface="Calibri"/>
              </a:rPr>
              <a:t>Prior ownership basis
(2021 sale: $152.75M)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30632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Calibri Light"/>
              </a:rPr>
              <a:t>Business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429000"/>
            <a:ext cx="8366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2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Acquire at a reset basis of ~$230–265 PSF, a ~50% discount to the prior $540 PSF basis and well inside $21.5M ($76 PSF) of recent base-building and amenity capital already in place.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2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Lease up near-term vacancy from 76.8% (post Aspen downsize / Plan International termination) to a ~90% stabilized occupancy; ~40,000 SF of leasing underwritten in the first three years.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2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Fund ~$3.0M ($10 PSF) of near-term building capital plus outstanding TI/LCs; ~$1.3M credited at close.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2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Underwritten returns of an 18–20% levered IRR and a 12–14% stabilized return on cost at a 9.5% exit cap ($357 PSF residual).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Valuation Summary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28032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646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64608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Eastdil Secured levered-IRR sensitivity – assumes a 5-year hold beginning October 2026, 65% LTV / 65% future funding at SOFR + 3.75% (7.43% coupon).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783080"/>
          <a:ext cx="54864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822960"/>
                <a:gridCol w="822960"/>
                <a:gridCol w="822960"/>
                <a:gridCol w="822960"/>
                <a:gridCol w="822960"/>
              </a:tblGrid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Levered IRR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3D3000"/>
                          </a:solidFill>
                          <a:latin typeface="Calibri"/>
                        </a:rPr>
                        <a:t>Exit Cap Rate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9.50%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10.00%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$75,000,000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17.51%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16.37%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15.24%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14.12%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13.01%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$72,500,000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19.33%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18.22%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17.12%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16.03%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14.96%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$70,000,000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21.19%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20.10%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3D3000"/>
                          </a:solidFill>
                          <a:latin typeface="Calibri"/>
                        </a:rPr>
                        <a:t>19.03%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17.97%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16.93%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$67,500,000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23.08%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22.02%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20.98%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19.95%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18.93%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$65,000,000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25.02%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23.99%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22.96%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20.97%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26480" y="173736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At ~$70.0M / $247 PSF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In-Place Cap Rate (87.8% occ)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48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11.93%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4597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Adjusted Cap Rate (76.8% occ)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597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8.86%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77063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Stabilized Return on Cost (Yr 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770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12.04%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81527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Average Cash 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81527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9.42%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39242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Levered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392423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19.03%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033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Equity Multiple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7033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2.14x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14215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Reversion PSF (9.50% exit)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14215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$357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16052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Note: Eastdil assumes Jackson &amp; Campbell vacates at lease expiration (Aug-2035) – ~50 bps of impact on residual pricing – and excludes Aspen's Jan-2027 giveback and Plan International's Nov-2027 termination from in-place NOI. Source: Eastdil Secured BOV, Jun-2026.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Tenancy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Tenant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28032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646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64608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960120"/>
          <a:ext cx="5440680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40080"/>
                <a:gridCol w="822960"/>
                <a:gridCol w="640080"/>
                <a:gridCol w="868680"/>
                <a:gridCol w="1051560"/>
              </a:tblGrid>
              <a:tr h="27432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D3000"/>
                          </a:solidFill>
                          <a:latin typeface="Calibri"/>
                        </a:rPr>
                        <a:t>Tenant Summary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Floors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Expiration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Gross Rent ($/SF)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¹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6-8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91,395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32.3%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May-41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$71.56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BlackIvy / CINQCARE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 &amp; 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25,720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Aug-34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$55.87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Bezos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4-5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May-32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$28.31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²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Aug-35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$51.47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Two Birds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17,275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Jun-38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$52.53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16,722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Nov-36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$57.32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Plan International ³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15,485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Oct-27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$67.03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Sep-37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Jun-31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Bar Angie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Mar-40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$44.25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Total Leased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248,300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9.4 yrs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$58.26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0" y="960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 Light"/>
              </a:rPr>
              <a:t>Key Considerations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2588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88% leased today, stepping to 77% after Aspen's 6th-floor downsize – nearly 10 years of WALT.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65,000+ SF (23% of NRA) of new leasing since Q4 2024; ~$1.3M of TI/LCs credited to a buyer at close.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Anchor Aspen Institute extended through May-2041 across floors 6–8.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Roll risk to watch: Plan International termination (Nov-2027) and Jackson &amp; Campbell sublease marketing ahead of its Aug-2035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95959"/>
                </a:solidFill>
                <a:latin typeface="Calibri"/>
              </a:rPr>
              <a:t>¹ Gives back 15,536 SF Dec-2026, extends through May-2041.   ² 100% of space on sublease market; ES assumes vacate at expiry.   ³ Subleased; termination effective Nov-2027.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Lease Comparables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28032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646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64608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32688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Calibri"/>
              </a:rPr>
              <a:t>Recent West End / CBD office leasing – asking rents of $35.00 – $62.50 FSG (18 deals; $47.66 average). Source: CoStar, 7/1/2026.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417320"/>
          <a:ext cx="8375904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65760"/>
                <a:gridCol w="2880360"/>
                <a:gridCol w="1051560"/>
                <a:gridCol w="914400"/>
                <a:gridCol w="640080"/>
                <a:gridCol w="914400"/>
                <a:gridCol w="969264"/>
                <a:gridCol w="640080"/>
              </a:tblGrid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Property / Address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Submarket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SF Leased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Floor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Sign Date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Rent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2300 N Street, NW (Subject)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West End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$58.34 FS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Asking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1255 23rd St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West End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13,634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2nd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6/24/26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$35.00 FS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1501 M St NW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CBD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4,615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4th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6/24/26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$59.00 FS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The Lion Building – 1233 20th St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CBD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3,995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7th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6/22/26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$48.00 FS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1660 L St NW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CBD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1,843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8th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6/22/26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$48.00 FS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1825 K St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CBD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1,934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9th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6/15/26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$49.00 FS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One Thomas Circle – 1 Thomas Cir NW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CBD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5,897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10th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6/15/26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$49.00 FS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The Foundry – 1055 T. Jefferson St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Georgetown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6,467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6/12/26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$53.00 FS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Waterfront Center – 1010 Wisconsin NW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Georgetown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3,440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5th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6/8/26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$41.00 FS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The Row on 19th – 1900 M St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CBD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9,645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4th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5/26/26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$59.00 FS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46184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The Demonet – 1155 Connecticut NW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CBD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6,624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12th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5/13/26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$62.50 FS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46192"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1150 Connecticut Ave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CBD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3,481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7th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5/11/26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$51.00 FS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Market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Market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28032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646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64608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32688"/>
            <a:ext cx="8366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Washington, DC posted the 3rd-highest U.S. office volume in 2025, with pricing bands re-forming and trophy fundamentals accelerating. Tier-one DC office vacancy is just 8.7% against a near-zero supply pipeline, while 6.9M SF of office-to-residential/hotel conversions are removing supply.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the West End, the planned residential conversion of nearby 1255 23rd Street injects ~100,000 SF of tenant demand and cuts submarket availability by ~7.2% – a direct tailwind for 2300 N Street's lease-up.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697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Select DC Office Sale Comparables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3063240"/>
          <a:ext cx="8375904" cy="1600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777240"/>
                <a:gridCol w="1051560"/>
                <a:gridCol w="914400"/>
                <a:gridCol w="1005840"/>
                <a:gridCol w="786384"/>
                <a:gridCol w="1097280"/>
              </a:tblGrid>
              <a:tr h="200025">
                <a:tc>
                  <a:txBody>
                    <a:bodyPr wrap="square"/>
                    <a:lstStyle/>
                    <a:p>
                      <a:pPr algn="l"/>
                      <a:r>
                        <a:rPr sz="880" b="1" i="0">
                          <a:solidFill>
                            <a:srgbClr val="FFFFFF"/>
                          </a:solidFill>
                          <a:latin typeface="Calibri"/>
                        </a:rPr>
                        <a:t>Property / Address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 i="0">
                          <a:solidFill>
                            <a:srgbClr val="FFFFFF"/>
                          </a:solidFill>
                          <a:latin typeface="Calibri"/>
                        </a:rPr>
                        <a:t>Yr Built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 i="0">
                          <a:solidFill>
                            <a:srgbClr val="FFFFFF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 i="0">
                          <a:solidFill>
                            <a:srgbClr val="FFFFFF"/>
                          </a:solidFill>
                          <a:latin typeface="Calibri"/>
                        </a:rPr>
                        <a:t>Vacancy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 i="0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 i="0">
                          <a:solidFill>
                            <a:srgbClr val="FFFFFF"/>
                          </a:solidFill>
                          <a:latin typeface="Calibri"/>
                        </a:rPr>
                        <a:t>$/SF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 i="0">
                          <a:solidFill>
                            <a:srgbClr val="FFFFFF"/>
                          </a:solidFill>
                          <a:latin typeface="Calibri"/>
                        </a:rPr>
                        <a:t>Sale Date</a:t>
                      </a:r>
                    </a:p>
                  </a:txBody>
                  <a:tcPr anchor="ctr" marL="54864" marR="45720" marT="18288" marB="18288">
                    <a:solidFill>
                      <a:srgbClr val="262626"/>
                    </a:solidFill>
                  </a:tcPr>
                </a:tc>
              </a:tr>
              <a:tr h="200025"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2001 M St NW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1986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284,994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7.1%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$163.3M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$573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00025"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2445 M St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1986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299,668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11.9%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$101.0M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$337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Mar-26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00025"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City Center – 1401 H St NW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1992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371,903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13.6%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$118.1M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$318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Mar-25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00025"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2101 L St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1975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384,000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22.8%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$110.1M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$287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Dec-24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00025"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1400 K St NW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1982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197,000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26.6%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$35.5M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Oct-25</a:t>
                      </a:r>
                    </a:p>
                  </a:txBody>
                  <a:tcPr anchor="ctr" marL="54864" marR="45720" marT="18288" marB="18288">
                    <a:solidFill>
                      <a:srgbClr val="FFFFFF"/>
                    </a:solidFill>
                  </a:tcPr>
                </a:tc>
              </a:tr>
              <a:tr h="200025">
                <a:tc>
                  <a:txBody>
                    <a:bodyPr wrap="square"/>
                    <a:lstStyle/>
                    <a:p>
                      <a:pPr algn="l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Watergate 600 – 600 New Hampshire NW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1967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316,000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29.4%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$52.5M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$166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 i="0">
                          <a:solidFill>
                            <a:srgbClr val="262626"/>
                          </a:solidFill>
                          <a:latin typeface="Calibri"/>
                        </a:rPr>
                        <a:t>Mar-26</a:t>
                      </a:r>
                    </a:p>
                  </a:txBody>
                  <a:tcPr anchor="ctr" marL="54864" marR="45720" marT="18288" marB="18288">
                    <a:solidFill>
                      <a:srgbClr val="EDEDED"/>
                    </a:solidFill>
                  </a:tcPr>
                </a:tc>
              </a:tr>
              <a:tr h="200025">
                <a:tc>
                  <a:txBody>
                    <a:bodyPr wrap="square"/>
                    <a:lstStyle/>
                    <a:p>
                      <a:pPr algn="l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DC Office Avg (report set)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1980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261,856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15.9%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$82.9M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$317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 i="0">
                          <a:solidFill>
                            <a:srgbClr val="3D3000"/>
                          </a:solidFill>
                          <a:latin typeface="Calibri"/>
                        </a:rPr>
                        <a:t>8.7% cap</a:t>
                      </a:r>
                    </a:p>
                  </a:txBody>
                  <a:tcPr anchor="ctr" marL="54864" marR="45720" marT="18288" marB="18288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17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Calibri Light"/>
              </a:rPr>
              <a:t>Matt Nicholson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089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Executive Vice President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3832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mnicholson@lpc.com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2743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Calibri Light"/>
              </a:rPr>
              <a:t>Jackson Coviello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31089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Assistant Vice President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33832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jcoviello@lpc.com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3328" y="2743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Calibri Light"/>
              </a:rPr>
              <a:t>Jared Hicks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31089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33832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jahicks@lpc.com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1605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Lincoln Property Company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101 Constitution Ave. NW, Suite 325 East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Washington, DC 20001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www.lpc.com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