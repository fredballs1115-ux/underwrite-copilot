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10.jpg"/><Relationship Id="rId8" Type="http://schemas.openxmlformats.org/officeDocument/2006/relationships/image" Target="../media/image11.jpg"/><Relationship Id="rId9" Type="http://schemas.openxmlformats.org/officeDocument/2006/relationships/image" Target="../media/image12.jpg"/><Relationship Id="rId10" Type="http://schemas.openxmlformats.org/officeDocument/2006/relationships/image" Target="../media/image13.jpg"/><Relationship Id="rId11" Type="http://schemas.openxmlformats.org/officeDocument/2006/relationships/image" Target="../media/image14.jpg"/><Relationship Id="rId12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Relationship Id="rId6" Type="http://schemas.openxmlformats.org/officeDocument/2006/relationships/image" Target="../media/image20.jpg"/><Relationship Id="rId7" Type="http://schemas.openxmlformats.org/officeDocument/2006/relationships/image" Target="../media/image21.jpg"/><Relationship Id="rId8" Type="http://schemas.openxmlformats.org/officeDocument/2006/relationships/image" Target="../media/image22.jpg"/><Relationship Id="rId9" Type="http://schemas.openxmlformats.org/officeDocument/2006/relationships/image" Target="../media/image23.jpg"/><Relationship Id="rId10" Type="http://schemas.openxmlformats.org/officeDocument/2006/relationships/image" Target="../media/image24.jpg"/><Relationship Id="rId11" Type="http://schemas.openxmlformats.org/officeDocument/2006/relationships/image" Target="../media/image25.jpg"/><Relationship Id="rId12" Type="http://schemas.openxmlformats.org/officeDocument/2006/relationships/image" Target="../media/image26.jpg"/><Relationship Id="rId13" Type="http://schemas.openxmlformats.org/officeDocument/2006/relationships/image" Target="../media/image27.jpg"/><Relationship Id="rId14" Type="http://schemas.openxmlformats.org/officeDocument/2006/relationships/image" Target="../media/image28.jpg"/><Relationship Id="rId15" Type="http://schemas.openxmlformats.org/officeDocument/2006/relationships/image" Target="../media/image2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Relationship Id="rId7" Type="http://schemas.openxmlformats.org/officeDocument/2006/relationships/image" Target="../media/image35.jpg"/><Relationship Id="rId8" Type="http://schemas.openxmlformats.org/officeDocument/2006/relationships/image" Target="../media/image36.jpg"/><Relationship Id="rId9" Type="http://schemas.openxmlformats.org/officeDocument/2006/relationships/image" Target="../media/image3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_473a4e8f0a984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0520" y="0"/>
            <a:ext cx="4983480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86868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5B400"/>
                </a:solidFill>
                <a:latin typeface="Georgia"/>
              </a:rPr>
              <a:t>Lincoln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474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 Light"/>
              </a:rPr>
              <a:t>Investment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23160"/>
            <a:ext cx="3566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 Light"/>
              </a:rPr>
              <a:t>2300 N Street, NW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520440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Washington, DC</a:t>
            </a:r>
          </a:p>
          <a:p>
            <a:pPr algn="l">
              <a:spcAft>
                <a:spcPts val="2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West End Submarket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2519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Lincoln Property Company  |  Oaktree Capital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7091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Calibri"/>
              </a:rPr>
              <a:t>Confidential Equity Memorandum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691640"/>
            <a:ext cx="2377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5B400"/>
                </a:solidFill>
                <a:latin typeface="Calibri Light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73736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Property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52360" y="1737360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239572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Tenancy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2395728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054096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3054096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Calibri Light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Property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4983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62626"/>
                </a:solidFill>
                <a:latin typeface="Calibri"/>
              </a:rPr>
              <a:t>2300 N Street is a 282,943 SF, 8-story Class A office building in Washington, DC's supply-constrained West End submarket. Built in 1986 and renovated in 2018, the asset is 87.8% leased with 9.4 years of WALT and best-in-class amenities.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874519"/>
          <a:ext cx="4983480" cy="26517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25880"/>
                <a:gridCol w="1188720"/>
                <a:gridCol w="1051560"/>
                <a:gridCol w="1417320"/>
              </a:tblGrid>
              <a:tr h="331470">
                <a:tc gridSpan="4"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3D3000"/>
                          </a:solidFill>
                          <a:latin typeface="Calibri"/>
                        </a:rPr>
                        <a:t>Property Description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Size (SF):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282,943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Submarket: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West End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Stories: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% Leased: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Year Built / Reno: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1986 / 2018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In-Place WALT: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9.4 Years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Typical Floor: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38,391 SF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Parking: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300 spaces (0.98/1,000 SF)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Building Class: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Class A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Zoning: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MU-10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Land Area: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1.13 AC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Metro: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Foggy Bottom-GWU (9-min walk)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31470"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Amenities: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Fitness, Roof Terrace,</a:t>
                      </a:r>
                    </a:p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Conferencing, Restaurant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Ownership: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Lincoln Property Co. / Oaktree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" name="Picture 9" descr="c_468785e250ba8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960120"/>
            <a:ext cx="3227832" cy="1737360"/>
          </a:xfrm>
          <a:prstGeom prst="rect">
            <a:avLst/>
          </a:prstGeom>
        </p:spPr>
      </p:pic>
      <p:pic>
        <p:nvPicPr>
          <p:cNvPr id="11" name="Picture 10" descr="c_236b2b813ec359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2788920"/>
            <a:ext cx="3227832" cy="1737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Location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4</a:t>
            </a:r>
          </a:p>
        </p:txBody>
      </p:sp>
      <p:pic>
        <p:nvPicPr>
          <p:cNvPr id="8" name="Picture 7" descr="c_3b04d5bdc6d09c7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60120"/>
            <a:ext cx="5257800" cy="36118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806440" y="960120"/>
            <a:ext cx="2953512" cy="365760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005840"/>
            <a:ext cx="29535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3D3000"/>
                </a:solidFill>
                <a:latin typeface="Calibri"/>
              </a:rPr>
              <a:t>Location Highlights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81328"/>
            <a:ext cx="2971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262626"/>
                </a:solidFill>
                <a:latin typeface="Calibri"/>
              </a:rPr>
              <a:t>West End</a:t>
            </a:r>
            <a:r>
              <a:rPr sz="1000" b="0" i="0">
                <a:solidFill>
                  <a:srgbClr val="262626"/>
                </a:solidFill>
                <a:latin typeface="Calibri"/>
              </a:rPr>
              <a:t> — DC's premier office submarket, bordering Georgetown, Foggy Bottom and the CBD.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262626"/>
                </a:solidFill>
                <a:latin typeface="Calibri"/>
              </a:rPr>
              <a:t>Metro</a:t>
            </a:r>
            <a:r>
              <a:rPr sz="1000" b="0" i="0">
                <a:solidFill>
                  <a:srgbClr val="262626"/>
                </a:solidFill>
                <a:latin typeface="Calibri"/>
              </a:rPr>
              <a:t> — Foggy Bottom-GWU (9-min walk), Dupont Circle (13-min), Farragut North (15-min).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262626"/>
                </a:solidFill>
                <a:latin typeface="Calibri"/>
              </a:rPr>
              <a:t>Walkability</a:t>
            </a:r>
            <a:r>
              <a:rPr sz="1000" b="0" i="0">
                <a:solidFill>
                  <a:srgbClr val="262626"/>
                </a:solidFill>
                <a:latin typeface="Calibri"/>
              </a:rPr>
              <a:t> — Walk Score 100, Transit 90, Bike 90 (“Exceptionally friendly”).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262626"/>
                </a:solidFill>
                <a:latin typeface="Calibri"/>
              </a:rPr>
              <a:t>Hotels</a:t>
            </a:r>
            <a:r>
              <a:rPr sz="1000" b="0" i="0">
                <a:solidFill>
                  <a:srgbClr val="262626"/>
                </a:solidFill>
                <a:latin typeface="Calibri"/>
              </a:rPr>
              <a:t> — Fairmont, Park Hyatt, Westin Georgetown, Ritz-Carlton and Marriott within 2–3 blocks.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00" b="1" i="0">
                <a:solidFill>
                  <a:srgbClr val="262626"/>
                </a:solidFill>
                <a:latin typeface="Calibri"/>
              </a:rPr>
              <a:t>Regional access</a:t>
            </a:r>
            <a:r>
              <a:rPr sz="1000" b="0" i="0">
                <a:solidFill>
                  <a:srgbClr val="262626"/>
                </a:solidFill>
                <a:latin typeface="Calibri"/>
              </a:rPr>
              <a:t> — Reagan National 12-min drive; Union Station / L'Enfant ~6–7 min.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46177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Location highlights per CoStar (7/1/2026). Map is a schematic for orientation, not to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Value Considerations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005840"/>
            <a:ext cx="8375904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Hold Period: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A 5-year hold is consistent with target investment horizons for active office capital and aligns with available financing.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Return Metrics: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With material near-term leasing and capital, investors are likely to solve for an 18–20% levered IRR and a 12–14% stabilized return on cost.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Capital Projections: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Prior ownership invested ~$22.0M ($76 PSF) in base-building and amenity upgrades; $1.3M ($5 PSF) of outstanding TI/LCs is credited at closing; ES assumes a buyer underwrites $3.0M ($10 PSF) of near-term capital following sale.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Market Rents: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Eastdil is underwriting typical office rents of $55.00–63.50 FSG, building on recent leasing at the asset.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Stabilized Occupancy: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Occupancy steps to 77% after Aspen's downsize and Plan International's 2027 termination; ~40,000 SF of leasing in the first three years stabilizes occupancy at 90%.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Real Estate Taxes: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ES assumes a 20% decrease in assessed value following sale, to $104.6M ($370 PSF), growing at inflation thereafter.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Market Financing: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The most efficient structure is a floating-rate execution — 65% Initial LTV with 65% Future Funding for leasing/capex at SOFR + 3.75%.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10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100" b="1" i="0">
                <a:solidFill>
                  <a:srgbClr val="262626"/>
                </a:solidFill>
                <a:latin typeface="Calibri"/>
              </a:rPr>
              <a:t>Exit Cap Rate:  </a:t>
            </a:r>
            <a:r>
              <a:rPr sz="1100" b="0" i="0">
                <a:solidFill>
                  <a:srgbClr val="262626"/>
                </a:solidFill>
                <a:latin typeface="Calibri"/>
              </a:rPr>
              <a:t>ES underwrote a 9.5% exit cap, a $100.9M ($357 PSF) residual; absent clarity on Jackson &amp; Campbell, investors underwrite a vacate (~50 bps of residual impact).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59028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Source: Eastdil Secured Opinion of Value (Jun-2026).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Valuation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8366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262626"/>
                </a:solidFill>
                <a:latin typeface="Calibri"/>
              </a:rPr>
              <a:t>Levered-IRR sensitivity — 5-year hold beginning October 2026; 65% LTV / 65% future funding at SOFR + 3.75% (7.43% coupon).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783080"/>
          <a:ext cx="548640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  <a:gridCol w="822960"/>
              </a:tblGrid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FFFFFF"/>
                          </a:solidFill>
                          <a:latin typeface="Calibri"/>
                        </a:rPr>
                        <a:t>Levered IRR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ctr"/>
                      <a:r>
                        <a:rPr sz="1050" b="1" i="0">
                          <a:solidFill>
                            <a:srgbClr val="3D3000"/>
                          </a:solidFill>
                          <a:latin typeface="Calibri"/>
                        </a:rPr>
                        <a:t>Exit Cap Rate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Price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9.00%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9.25%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9.50%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9.75%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10.00%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$75,000,000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17.51%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16.37%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15.24%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14.12%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13.01%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$72,500,000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19.33%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18.22%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17.12%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16.03%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14.96%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$70,000,000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21.19%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20.10%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3D3000"/>
                          </a:solidFill>
                          <a:latin typeface="Calibri"/>
                        </a:rPr>
                        <a:t>19.03%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17.97%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16.93%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$67,500,000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23.08%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22.02%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20.98%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19.95%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18.93%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 wrap="square"/>
                    <a:lstStyle/>
                    <a:p>
                      <a:pPr algn="ctr"/>
                      <a:r>
                        <a:rPr sz="950" b="1" i="0">
                          <a:solidFill>
                            <a:srgbClr val="262626"/>
                          </a:solidFill>
                          <a:latin typeface="Calibri"/>
                        </a:rPr>
                        <a:t>$65,000,000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25.02%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23.99%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22.96%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21.96%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50" b="0" i="0">
                          <a:solidFill>
                            <a:srgbClr val="262626"/>
                          </a:solidFill>
                          <a:latin typeface="Calibri"/>
                        </a:rPr>
                        <a:t>20.97%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126480" y="1737360"/>
            <a:ext cx="2651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 Light"/>
              </a:rPr>
              <a:t>At ~$70.0M / $247 PSF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14884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In-Place Cap Rate (87.8% occ)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14884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11.93%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245973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Adjusted Cap Rate (76.8% occ)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597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8.86%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7063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Stabilized Return on Cost (Yr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770632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12.04%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081527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Average Cash Yield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081527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9.42%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392423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Levered IRR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392423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19.03%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70332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Equity Multiple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703320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2.14x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014215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Calibri"/>
              </a:rPr>
              <a:t>Reversion PSF (9.50% exit)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014215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262626"/>
                </a:solidFill>
                <a:latin typeface="Calibri"/>
              </a:rPr>
              <a:t>$357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" y="4160520"/>
            <a:ext cx="5486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95959"/>
                </a:solidFill>
                <a:latin typeface="Calibri"/>
              </a:rPr>
              <a:t>Loan balance of $100M implies a ~25–35% discount to par at the ES value range. Source: Eastdil Secured Opinion of Value (Jun-2026).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Operating Cash Flow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8366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0" i="0">
                <a:solidFill>
                  <a:srgbClr val="262626"/>
                </a:solidFill>
                <a:latin typeface="Calibri"/>
              </a:rPr>
              <a:t>Eastdil Secured five-year projection (years ending September 30). In-place NOI at 10/1/2026 is $8.35M; near-term dips reflect lease-up downtime and abatement before stabilization.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828800"/>
          <a:ext cx="8375904" cy="2286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40864"/>
                <a:gridCol w="1207008"/>
                <a:gridCol w="1207008"/>
                <a:gridCol w="1207008"/>
                <a:gridCol w="1207008"/>
                <a:gridCol w="1207008"/>
              </a:tblGrid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($)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FY 2027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FY 2028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FY 2029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FY 2030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FY 2031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Effective Gross Income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13,455,822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13,177,239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13,974,199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15,774,954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16,704,339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Total Operating Expenses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(6,942,899)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(6,538,241)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(6,703,809)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(6,904,521)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(7,083,080)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Net Operating Income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6,468,929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6,472,555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7,032,831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8,616,206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9,367,363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Total Capital (TI/LC + CapEx)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(1,748,577)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(4,070,547)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(3,217,200)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(71,398)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 i="0">
                          <a:solidFill>
                            <a:srgbClr val="262626"/>
                          </a:solidFill>
                          <a:latin typeface="Calibri"/>
                        </a:rPr>
                        <a:t>(215,515)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8100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Net Cash Flow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4,720,352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2,402,008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3,815,631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8,544,808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 i="0">
                          <a:solidFill>
                            <a:srgbClr val="3D3000"/>
                          </a:solidFill>
                          <a:latin typeface="Calibri"/>
                        </a:rPr>
                        <a:t>9,151,849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3434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1">
                <a:solidFill>
                  <a:srgbClr val="595959"/>
                </a:solidFill>
                <a:latin typeface="Calibri"/>
              </a:rPr>
              <a:t>Capital reflects ~$3.0M ($10 PSF) of building CapEx (front-loaded FY27–29) plus tenant TI/LCs. Source: Eastdil Secured Opinion of Value (Jun-2026).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A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8229600" cy="4114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0" b="1" i="0">
                <a:solidFill>
                  <a:srgbClr val="BEB2D2"/>
                </a:solidFill>
                <a:latin typeface="Georgia"/>
              </a:rPr>
              <a:t>Lincoln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Tenancy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Tenant Overview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960120"/>
          <a:ext cx="5440680" cy="35661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417320"/>
                <a:gridCol w="640080"/>
                <a:gridCol w="822960"/>
                <a:gridCol w="640080"/>
                <a:gridCol w="868680"/>
                <a:gridCol w="1051560"/>
              </a:tblGrid>
              <a:tr h="274320">
                <a:tc gridSpan="6">
                  <a:txBody>
                    <a:bodyPr wrap="square"/>
                    <a:lstStyle/>
                    <a:p>
                      <a:pPr algn="ctr"/>
                      <a:r>
                        <a:rPr sz="1100" b="1" i="0">
                          <a:solidFill>
                            <a:srgbClr val="3D3000"/>
                          </a:solidFill>
                          <a:latin typeface="Calibri"/>
                        </a:rPr>
                        <a:t>Tenant Summary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00" b="1" i="0">
                          <a:solidFill>
                            <a:srgbClr val="262626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Calibri"/>
                        </a:rPr>
                        <a:t>Floors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Calibri"/>
                        </a:rPr>
                        <a:t>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Calibri"/>
                        </a:rPr>
                        <a:t>% NRA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Calibri"/>
                        </a:rPr>
                        <a:t>Expiration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 i="0">
                          <a:solidFill>
                            <a:srgbClr val="262626"/>
                          </a:solidFill>
                          <a:latin typeface="Calibri"/>
                        </a:rPr>
                        <a:t>Gross Rent ($/SF)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Aspen Institute ¹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6-8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91,395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32.3%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May-41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$71.56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BlackIvy / CINQCARE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2 &amp; 6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25,720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9.1%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Aug-34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$55.87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Bezos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4-5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23,874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May-32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$28.31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Jackson &amp; Campbell ²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23,735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Aug-35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$51.47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Two Birds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17,275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6.1%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Jun-38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$52.53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Holtzman Vogel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16,722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5.9%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Nov-36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$57.32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Plan International ³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15,485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Oct-27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$67.03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Compass Point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10,034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Sep-37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$53.50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Capital Power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6,562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Jun-31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$55.00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Bar Angie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4,435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Mar-40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0" i="0">
                          <a:solidFill>
                            <a:srgbClr val="262626"/>
                          </a:solidFill>
                          <a:latin typeface="Calibri"/>
                        </a:rPr>
                        <a:t>$44.25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69" b="1" i="0">
                          <a:solidFill>
                            <a:srgbClr val="3D3000"/>
                          </a:solidFill>
                          <a:latin typeface="Calibri"/>
                        </a:rPr>
                        <a:t>Total Leased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1" i="0">
                          <a:solidFill>
                            <a:srgbClr val="3D3000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1" i="0">
                          <a:solidFill>
                            <a:srgbClr val="3D3000"/>
                          </a:solidFill>
                          <a:latin typeface="Calibri"/>
                        </a:rPr>
                        <a:t>248,300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1" i="0">
                          <a:solidFill>
                            <a:srgbClr val="3D3000"/>
                          </a:solidFill>
                          <a:latin typeface="Calibri"/>
                        </a:rPr>
                        <a:t>87.8%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1" i="0">
                          <a:solidFill>
                            <a:srgbClr val="3D3000"/>
                          </a:solidFill>
                          <a:latin typeface="Calibri"/>
                        </a:rPr>
                        <a:t>9.4 yrs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69" b="1" i="0">
                          <a:solidFill>
                            <a:srgbClr val="3D3000"/>
                          </a:solidFill>
                          <a:latin typeface="Calibri"/>
                        </a:rPr>
                        <a:t>$58.26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0" y="96012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 Light"/>
              </a:rPr>
              <a:t>Key Considerations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325880"/>
            <a:ext cx="3108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88% leased today, stepping to 77% after Aspen's 6th-floor downsize — nearly 10 years of WALT.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65,000+ SF (23% of NRA) of new leasing since Q4 2024; ~$1.3M of TI/LCs credited to a buyer at close.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Anchor Aspen Institute extended through May-2041 across floors 6–8.</a:t>
            </a:r>
          </a:p>
          <a:p>
            <a:pPr algn="l">
              <a:lnSpc>
                <a:spcPct val="102000"/>
              </a:lnSpc>
              <a:spcAft>
                <a:spcPts val="8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Roll risk to watch: Plan International termination (Nov-2027) and Jackson &amp; Campbell sublease marketing ahead of its Aug-2035 expiry.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4590288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1">
                <a:solidFill>
                  <a:srgbClr val="595959"/>
                </a:solidFill>
                <a:latin typeface="Calibri"/>
              </a:rPr>
              <a:t>¹ Gives back 15,536 SF Dec-2026, extends through May-2041.   ² 100% of space on sublease market; ES assumes vacate at expiry.   ³ Subleased; termination effective Nov-2027.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Recent Leasing Activity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32688"/>
            <a:ext cx="8375904" cy="56692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96696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D3000"/>
                </a:solidFill>
                <a:latin typeface="Calibri"/>
              </a:rPr>
              <a:t>2300 N STREET, NW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3444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D3000"/>
                </a:solidFill>
                <a:latin typeface="Calibri"/>
              </a:rPr>
              <a:t>Executed Leasing — Trailing 24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024128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3D3000"/>
                </a:solidFill>
                <a:latin typeface="Georgia"/>
              </a:rPr>
              <a:t>Lincoln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600200"/>
          <a:ext cx="8375903" cy="30632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874519"/>
                <a:gridCol w="777240"/>
                <a:gridCol w="685800"/>
                <a:gridCol w="548640"/>
                <a:gridCol w="777240"/>
                <a:gridCol w="777240"/>
                <a:gridCol w="868680"/>
                <a:gridCol w="658368"/>
                <a:gridCol w="749808"/>
                <a:gridCol w="658368"/>
              </a:tblGrid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Suite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NRA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% NRA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Commence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Rent ($/SF)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Free Rent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TI ($/SF)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Reimb.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Aspen Institute (Renewal)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0700-0800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75,859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26.8%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1/1/2027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$63.50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14 Yr 5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9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Compass Point (New)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0450-0460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10,034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3.5%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6/1/2026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$53.50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11 Yr 4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16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$100.00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Capital Power (New)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0520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6,562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2.3%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1/1/2026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$55.00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5 Yr 6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6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Bar Angie Storage (Exp.)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0210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2,841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1.0%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6/20/2025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$25.34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8 Yr 10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NNN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Jackson &amp; Campbell (Renewal)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0300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23,735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3/1/2025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$50.00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10 Yr 6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Holtzman Vogel (Exp.)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0610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10,280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3.6%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3/1/2025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$55.50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12 Yr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20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$135.00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Bezos (New)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0400-0500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23,874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2/1/2025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$27.35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7 Yr 4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3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Global Impact (New)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0501A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4,039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1.4%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2/1/2025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$44.00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7 Yr 4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Timmons (New)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0410B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3,755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1.3%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2/1/2025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$46.51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 Yr 9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$0.00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FSG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Bar Angie (New)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0100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4,435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1.6%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10/1/2024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$41.71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15 Yr 6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6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$281.85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0" i="0">
                          <a:solidFill>
                            <a:srgbClr val="262626"/>
                          </a:solidFill>
                          <a:latin typeface="Calibri"/>
                        </a:rPr>
                        <a:t>NNN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255270">
                <a:tc>
                  <a:txBody>
                    <a:bodyPr wrap="square"/>
                    <a:lstStyle/>
                    <a:p>
                      <a:pPr algn="l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Total / Avg.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165,414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58.5%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$52.80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139 Mo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7.2 Mo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>$22.01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780" b="1" i="0">
                          <a:solidFill>
                            <a:srgbClr val="3D3000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84048" y="46177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Source: Eastdil Secured Opinion of Value (Jun-2026).  Rents shown gross.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Market Leasing Assumptions &amp; Capital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96012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 Light"/>
              </a:rPr>
              <a:t>Market Leasing Assumptions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1325880"/>
          <a:ext cx="47548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00200"/>
                <a:gridCol w="658368"/>
                <a:gridCol w="566928"/>
                <a:gridCol w="566928"/>
                <a:gridCol w="594360"/>
                <a:gridCol w="768096"/>
              </a:tblGrid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Space Type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Rent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Renew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Down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Term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TI (N/R)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Office (Floors 7-8)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$63.50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18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11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$120/$80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Office (Floor 6)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$59.00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18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11 Yr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$120/$80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Office (Floors 4-5)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$57.50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18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11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$120/$80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Office (Floor 3)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$55.00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18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11 Yr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$120/$80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Town Hall Suites (4-5)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$54.00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12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8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$75/$25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Spec Suite (Floor 6)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$52.00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12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5.7 Yr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$50/$35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$36 Gross (Fl 2, 4-6)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$36.00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18 mo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8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$100/$30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1496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Retail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$45.00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12 mo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10 Yr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$95/$20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160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595959"/>
                </a:solidFill>
                <a:latin typeface="Calibri"/>
              </a:rPr>
              <a:t>Global: 2.5% inflation, 3.0% mgmt fee, $0.25 PSF reserves, 2.5% in-term bumps. Source: Eastdil Secured Opinion of Value (Jun-2026).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960120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62626"/>
                </a:solidFill>
                <a:latin typeface="Calibri Light"/>
              </a:rPr>
              <a:t>Capital Plan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94960" y="1325880"/>
          <a:ext cx="3364992" cy="24688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67712"/>
                <a:gridCol w="640080"/>
                <a:gridCol w="457200"/>
              </a:tblGrid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Project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Amount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 i="0">
                          <a:solidFill>
                            <a:srgbClr val="FFFFFF"/>
                          </a:solidFill>
                          <a:latin typeface="Calibri"/>
                        </a:rPr>
                        <a:t>PSF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1" i="0">
                          <a:solidFill>
                            <a:srgbClr val="3D3000"/>
                          </a:solidFill>
                          <a:latin typeface="Calibri"/>
                        </a:rPr>
                        <a:t>Prior Ownership Renovation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1" i="0">
                          <a:solidFill>
                            <a:srgbClr val="3D3000"/>
                          </a:solidFill>
                          <a:latin typeface="Calibri"/>
                        </a:rPr>
                        <a:t>$21.5M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1" i="0">
                          <a:solidFill>
                            <a:srgbClr val="3D3000"/>
                          </a:solidFill>
                          <a:latin typeface="Calibri"/>
                        </a:rPr>
                        <a:t>$76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   Roof Terrace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$4.6M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$16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   Common Areas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$2.3M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$8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   Main Lobby / AC Units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$4.0M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$14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   Fitness / Elevators / Garage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$4.0M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$14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   Other base-building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$6.6M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0" i="0">
                          <a:solidFill>
                            <a:srgbClr val="262626"/>
                          </a:solidFill>
                          <a:latin typeface="Calibri"/>
                        </a:rPr>
                        <a:t>$23</a:t>
                      </a:r>
                    </a:p>
                  </a:txBody>
                  <a:tcPr anchor="ctr" marL="45720" marR="36576" marT="9144" marB="9144">
                    <a:solidFill>
                      <a:srgbClr val="EDEDED"/>
                    </a:solidFill>
                  </a:tcPr>
                </a:tc>
              </a:tr>
              <a:tr h="308610">
                <a:tc>
                  <a:txBody>
                    <a:bodyPr wrap="square"/>
                    <a:lstStyle/>
                    <a:p>
                      <a:pPr algn="l"/>
                      <a:r>
                        <a:rPr sz="830" b="1" i="0">
                          <a:solidFill>
                            <a:srgbClr val="3D3000"/>
                          </a:solidFill>
                          <a:latin typeface="Calibri"/>
                        </a:rPr>
                        <a:t>Future Capital Plan (2026-28)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1" i="0">
                          <a:solidFill>
                            <a:srgbClr val="3D3000"/>
                          </a:solidFill>
                          <a:latin typeface="Calibri"/>
                        </a:rPr>
                        <a:t>$3.0M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30" b="1" i="0">
                          <a:solidFill>
                            <a:srgbClr val="3D3000"/>
                          </a:solidFill>
                          <a:latin typeface="Calibri"/>
                        </a:rPr>
                        <a:t>$11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394960" y="388620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1">
                <a:solidFill>
                  <a:srgbClr val="595959"/>
                </a:solidFill>
                <a:latin typeface="Calibri"/>
              </a:rPr>
              <a:t>RE taxes: ES assumes a 20% assessment reduction post-sale to $104.6M ($370 PSF), growing at inflation. $1.3M of outstanding TI/LCs credited at close.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B0A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548640"/>
            <a:ext cx="8229600" cy="411480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20000" b="1" i="0">
                <a:solidFill>
                  <a:srgbClr val="BEB2D2"/>
                </a:solidFill>
                <a:latin typeface="Georgia"/>
              </a:rPr>
              <a:t>Lincoln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0" i="0">
                <a:solidFill>
                  <a:srgbClr val="000000"/>
                </a:solidFill>
                <a:latin typeface="Calibri Light"/>
              </a:rPr>
              <a:t>Market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Washington, DC Metro Office Market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13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60120"/>
            <a:ext cx="4114800" cy="365760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005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D3000"/>
                </a:solidFill>
                <a:latin typeface="Calibri"/>
              </a:rPr>
              <a:t>The Good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5152" y="960120"/>
            <a:ext cx="4114800" cy="36576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00584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What's Challenging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1463040"/>
            <a:ext cx="40690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Office trade volume is accelerating — 3rd-highest 2025 US volume and 2nd-highest number of transactions.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The return-to-office mandate has increased DC activity and added contractor demand.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Pricing bands for office have formed.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Newer-vintage product outperforms — nearly all net absorption is in post-2010 built/renovated space.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Record rents are being achieved for new construction and high-quality space.</a:t>
            </a:r>
          </a:p>
          <a:p>
            <a:pPr algn="l">
              <a:lnSpc>
                <a:spcPct val="100000"/>
              </a:lnSpc>
              <a:spcAft>
                <a:spcPts val="700"/>
              </a:spcAft>
            </a:pPr>
            <a:r>
              <a:rPr sz="1050" b="1" i="0">
                <a:solidFill>
                  <a:srgbClr val="F5B400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Minimal new supply plus 6.9 MSF of office→residential/hotel conversions will keep improving fundamentals.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463040"/>
            <a:ext cx="411480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50" b="1" i="0">
                <a:solidFill>
                  <a:srgbClr val="222222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DC headlines (DOGE, GSA footprint, tariffs, National Guard, shutdown) create hurdles for investors.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50" b="1" i="0">
                <a:solidFill>
                  <a:srgbClr val="222222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Headline vacancy above 20% in most submarkets is forcing heightened concessions, especially for commodity product.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50" b="1" i="0">
                <a:solidFill>
                  <a:srgbClr val="222222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Leasing velocity remains mixed outside of Class-A space.</a:t>
            </a:r>
          </a:p>
          <a:p>
            <a:pPr algn="l">
              <a:lnSpc>
                <a:spcPct val="100000"/>
              </a:lnSpc>
              <a:spcAft>
                <a:spcPts val="900"/>
              </a:spcAft>
            </a:pPr>
            <a:r>
              <a:rPr sz="1050" b="1" i="0">
                <a:solidFill>
                  <a:srgbClr val="222222"/>
                </a:solidFill>
                <a:latin typeface="Calibri"/>
              </a:rPr>
              <a:t>▪  </a:t>
            </a:r>
            <a:r>
              <a:rPr sz="1050" b="0" i="0">
                <a:solidFill>
                  <a:srgbClr val="262626"/>
                </a:solidFill>
                <a:latin typeface="Calibri"/>
              </a:rPr>
              <a:t>Investors are underwriting significant capital amid escalating costs for non-trophy assets.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61772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Calibri"/>
              </a:rPr>
              <a:t>Source: Eastdil Secured Opinion of Value (Jun-2026).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Recent Data Points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14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14400"/>
            <a:ext cx="8375904" cy="56692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7840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D3000"/>
                </a:solidFill>
                <a:latin typeface="Calibri"/>
              </a:rPr>
              <a:t>WASHINGTON, DC — CLASS-A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D3000"/>
                </a:solidFill>
                <a:latin typeface="Calibri"/>
              </a:rPr>
              <a:t>Recent &amp; Active Comparable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005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3D3000"/>
                </a:solidFill>
                <a:latin typeface="Georgia"/>
              </a:rPr>
              <a:t>Lincoln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72768"/>
          <a:ext cx="8375903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96112"/>
                <a:gridCol w="679981"/>
                <a:gridCol w="679981"/>
                <a:gridCol w="679981"/>
                <a:gridCol w="679981"/>
                <a:gridCol w="679981"/>
                <a:gridCol w="679981"/>
                <a:gridCol w="679981"/>
                <a:gridCol w="679981"/>
                <a:gridCol w="679981"/>
                <a:gridCol w="679981"/>
                <a:gridCol w="679981"/>
              </a:tblGrid>
              <a:tr h="438912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888 16th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Hamilton Square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799 9th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1330 Connecticut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2001 M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1401 New York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901 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District Wharf</a:t>
                      </a:r>
                    </a:p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(670/680/1000 Maine)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District Wharf</a:t>
                      </a:r>
                    </a:p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(800 Maine)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2000 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50" b="1" i="0">
                          <a:solidFill>
                            <a:srgbClr val="FFFFFF"/>
                          </a:solidFill>
                          <a:latin typeface="Calibri"/>
                        </a:rPr>
                        <a:t>1099 New York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 wrap="square"/>
                    <a:lstStyle/>
                    <a:p>
                      <a:pPr algn="l"/>
                      <a:r>
                        <a:rPr sz="62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FFFFFF"/>
                          </a:solidFill>
                          <a:latin typeface="Calibri"/>
                        </a:rPr>
                        <a:t>Bidding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FFFFFF"/>
                          </a:solidFill>
                          <a:latin typeface="Calibri"/>
                        </a:rPr>
                        <a:t>Awarded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FFFFFF"/>
                          </a:solidFill>
                          <a:latin typeface="Calibri"/>
                        </a:rPr>
                        <a:t>Awarded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FFFFFF"/>
                          </a:solidFill>
                          <a:latin typeface="Calibri"/>
                        </a:rPr>
                        <a:t>Awarded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Jan-26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Jan-26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Jun-25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May-25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May-25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Jul-24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1" i="0">
                          <a:solidFill>
                            <a:srgbClr val="3D3000"/>
                          </a:solidFill>
                          <a:latin typeface="Calibri"/>
                        </a:rPr>
                        <a:t>Closed Mar-24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Size (SF)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107,000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248,000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205,000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259,000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284,000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211,000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220,000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750,000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150,000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233,000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181,000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% Leased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94%→81%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92%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88%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WALT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8.6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6.6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6.6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11.1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9.0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4.7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6.3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13.0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8.5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7.0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9.0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Cap Rate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8.50%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8.90%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9.75%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9.00%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8.90%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11.50→9.00%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6.50%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8.00%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9.25%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Price (PSF)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$75.0M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$700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$127.5M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$514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$100.0M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$488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$92.5M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$358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$163.3M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$577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$85.0M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$402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$85.0M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$386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$628.0M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$835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$63.2M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$425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$140.2M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$600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$95.0M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$525 PSF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Confidential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Confidential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Confidential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Stream Realty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Carr / Barings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Shorenstein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PSP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PSP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Spear Street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FarmView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Quadrangle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Trammell Crow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Meadow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CommonWealth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CalPERS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Brookfield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AussieSuper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BXP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Brookfield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AXA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Carr Properties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Hoffman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Madison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Hoffman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Madison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Tishman /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Deka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Credit Suisse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2316">
                <a:tc>
                  <a:txBody>
                    <a:bodyPr wrap="square"/>
                    <a:lstStyle/>
                    <a:p>
                      <a:pPr algn="l"/>
                      <a:r>
                        <a:rPr sz="620" b="1" i="0">
                          <a:solidFill>
                            <a:srgbClr val="262626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Condo Regime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Market Debt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(Debt Fund)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Market Debt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(Debt Fund)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Market Debt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(Debt Fund)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Market Debt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(CMBS)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Market Debt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(CMBS)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Seller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Financing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Market Debt</a:t>
                      </a:r>
                    </a:p>
                    <a:p>
                      <a:pPr algn="ctr"/>
                      <a:r>
                        <a:rPr sz="620" b="0" i="0">
                          <a:solidFill>
                            <a:srgbClr val="262626"/>
                          </a:solidFill>
                          <a:latin typeface="Calibri"/>
                        </a:rPr>
                        <a:t>(CMBS)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c_5d3075c3a1e9289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011680"/>
            <a:ext cx="679981" cy="512064"/>
          </a:xfrm>
          <a:prstGeom prst="rect">
            <a:avLst/>
          </a:prstGeom>
        </p:spPr>
      </p:pic>
      <p:pic>
        <p:nvPicPr>
          <p:cNvPr id="14" name="Picture 13" descr="c_4a880d934c83b8a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141" y="2011680"/>
            <a:ext cx="679981" cy="512064"/>
          </a:xfrm>
          <a:prstGeom prst="rect">
            <a:avLst/>
          </a:prstGeom>
        </p:spPr>
      </p:pic>
      <p:pic>
        <p:nvPicPr>
          <p:cNvPr id="15" name="Picture 14" descr="c_f9e2a4855933bb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122" y="2011680"/>
            <a:ext cx="679981" cy="512064"/>
          </a:xfrm>
          <a:prstGeom prst="rect">
            <a:avLst/>
          </a:prstGeom>
        </p:spPr>
      </p:pic>
      <p:pic>
        <p:nvPicPr>
          <p:cNvPr id="16" name="Picture 15" descr="c_3a22ca19fcf2f8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0103" y="2011680"/>
            <a:ext cx="679981" cy="512064"/>
          </a:xfrm>
          <a:prstGeom prst="rect">
            <a:avLst/>
          </a:prstGeom>
        </p:spPr>
      </p:pic>
      <p:pic>
        <p:nvPicPr>
          <p:cNvPr id="17" name="Picture 16" descr="c_3fb780b785cf55b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00084" y="2011680"/>
            <a:ext cx="679981" cy="512064"/>
          </a:xfrm>
          <a:prstGeom prst="rect">
            <a:avLst/>
          </a:prstGeom>
        </p:spPr>
      </p:pic>
      <p:pic>
        <p:nvPicPr>
          <p:cNvPr id="18" name="Picture 17" descr="c_11a28b9de8d402f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0065" y="2011680"/>
            <a:ext cx="679981" cy="512064"/>
          </a:xfrm>
          <a:prstGeom prst="rect">
            <a:avLst/>
          </a:prstGeom>
        </p:spPr>
      </p:pic>
      <p:pic>
        <p:nvPicPr>
          <p:cNvPr id="19" name="Picture 18" descr="c_3a45b008094fb04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0046" y="2011680"/>
            <a:ext cx="679981" cy="512064"/>
          </a:xfrm>
          <a:prstGeom prst="rect">
            <a:avLst/>
          </a:prstGeom>
        </p:spPr>
      </p:pic>
      <p:pic>
        <p:nvPicPr>
          <p:cNvPr id="20" name="Picture 19" descr="c_37b28e7fdb9f97c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40027" y="2011680"/>
            <a:ext cx="679981" cy="512064"/>
          </a:xfrm>
          <a:prstGeom prst="rect">
            <a:avLst/>
          </a:prstGeom>
        </p:spPr>
      </p:pic>
      <p:pic>
        <p:nvPicPr>
          <p:cNvPr id="21" name="Picture 20" descr="c_130b053d0893dcb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20008" y="2011680"/>
            <a:ext cx="679981" cy="512064"/>
          </a:xfrm>
          <a:prstGeom prst="rect">
            <a:avLst/>
          </a:prstGeom>
        </p:spPr>
      </p:pic>
      <p:pic>
        <p:nvPicPr>
          <p:cNvPr id="22" name="Picture 21" descr="c_7bb402bbfc46ea9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9989" y="2011680"/>
            <a:ext cx="679981" cy="512064"/>
          </a:xfrm>
          <a:prstGeom prst="rect">
            <a:avLst/>
          </a:prstGeom>
        </p:spPr>
      </p:pic>
      <p:pic>
        <p:nvPicPr>
          <p:cNvPr id="23" name="Picture 22" descr="c_57aac8a46883980c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79970" y="2011680"/>
            <a:ext cx="679981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Recent Data Points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15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14400"/>
            <a:ext cx="8375904" cy="56692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7840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D3000"/>
                </a:solidFill>
                <a:latin typeface="Calibri"/>
              </a:rPr>
              <a:t>WASHINGTON, DC — COMMODITY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D3000"/>
                </a:solidFill>
                <a:latin typeface="Calibri"/>
              </a:rPr>
              <a:t>Recent &amp; Active Comparable Transactions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005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3D3000"/>
                </a:solidFill>
                <a:latin typeface="Georgia"/>
              </a:rPr>
              <a:t>Lincoln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72768"/>
          <a:ext cx="8375898" cy="31089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841248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  <a:gridCol w="50231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56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700 6th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1350 Eye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1775 Penn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Sumner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Square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2445 M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Watergate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1400 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2033 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1325 G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1750 H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300 M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2101 L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1250 H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2001 L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1899 L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56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1">
                          <a:solidFill>
                            <a:srgbClr val="595959"/>
                          </a:solidFill>
                          <a:latin typeface="Calibri"/>
                        </a:rPr>
                        <a:t>[ photo ]</a:t>
                      </a:r>
                    </a:p>
                  </a:txBody>
                  <a:tcPr anchor="ctr" marL="45720" marR="36576" marT="9144" marB="9144">
                    <a:solidFill>
                      <a:srgbClr val="DDDD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56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FFFFFF"/>
                          </a:solidFill>
                          <a:latin typeface="Calibri"/>
                        </a:rPr>
                        <a:t>Bidding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FFFFFF"/>
                          </a:solidFill>
                          <a:latin typeface="Calibri"/>
                        </a:rPr>
                        <a:t>Bidding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FFFFFF"/>
                          </a:solidFill>
                          <a:latin typeface="Calibri"/>
                        </a:rPr>
                        <a:t>Awarded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FFFFFF"/>
                          </a:solidFill>
                          <a:latin typeface="Calibri"/>
                        </a:rPr>
                        <a:t>Under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FFFFFF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Apr-26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Mar-26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Oct-25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Jul-25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Jun-25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Jun-25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Jun-25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Dec-24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Nov-24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Oct-24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560" b="1" i="0">
                          <a:solidFill>
                            <a:srgbClr val="3D3000"/>
                          </a:solidFill>
                          <a:latin typeface="Calibri"/>
                        </a:rPr>
                        <a:t>Mar-24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Size (SF)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306,000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415,861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156,482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242,000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309,000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200,000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128,767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305,259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124,000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282,354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375,000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196,490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172,135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150,502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Year Built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2009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1989/14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1975/09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1985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1986/19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1972/02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1982/24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1975/19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1969/04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2002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2001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1975/07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1992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1986/14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1978/22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% Leased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79%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41%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80→75%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93→20%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65%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62%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55%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75%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53%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66%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56%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WALT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7.8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8.0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5.5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7.7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5.3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2.5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3.8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3.8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8.0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7.4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6.3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4.5 Yr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Cap Rate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11.8%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12.8%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(ROC)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9.0→8.5%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11.5%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10.7%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10.7%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9.5%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Price (PSF)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$85M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$278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$130M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$348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$37.5M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$240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$63.0M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$261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$101.0M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$337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$52.5M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$170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$35.5M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$180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$20.3M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$170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$25.0M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$82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$28.8M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$232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$28.0M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$100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$110.0M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$293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$27.5M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$137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$30.55M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$180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$26.65M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$180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Buyer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Confid.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Vireon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Eagle Cliff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JetSet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Taicoon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In-Rel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Farmview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Douglas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Confid.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ELV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Banyan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Melrose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Taicoon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560" b="1" i="0">
                          <a:solidFill>
                            <a:srgbClr val="262626"/>
                          </a:solidFill>
                          <a:latin typeface="Calibri"/>
                        </a:rPr>
                        <a:t>Seller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Principal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(Lender)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MetLife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Woodwind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BXP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Mesa West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Elme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Brookfield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ARA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US Bank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State Farm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Potomac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JBGS /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NW Mutual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Equity CW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AEW /</a:t>
                      </a:r>
                    </a:p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Swiss RE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560" b="0" i="0">
                          <a:solidFill>
                            <a:srgbClr val="262626"/>
                          </a:solidFill>
                          <a:latin typeface="Calibri"/>
                        </a:rPr>
                        <a:t>BlackRock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c_2fd21cb0b79aa3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1993392"/>
            <a:ext cx="502310" cy="420624"/>
          </a:xfrm>
          <a:prstGeom prst="rect">
            <a:avLst/>
          </a:prstGeom>
        </p:spPr>
      </p:pic>
      <p:pic>
        <p:nvPicPr>
          <p:cNvPr id="14" name="Picture 13" descr="c_55920060a753e06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916" y="1993392"/>
            <a:ext cx="502310" cy="420624"/>
          </a:xfrm>
          <a:prstGeom prst="rect">
            <a:avLst/>
          </a:prstGeom>
        </p:spPr>
      </p:pic>
      <p:pic>
        <p:nvPicPr>
          <p:cNvPr id="15" name="Picture 14" descr="c_1239868d122b35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2227" y="1993392"/>
            <a:ext cx="502310" cy="420624"/>
          </a:xfrm>
          <a:prstGeom prst="rect">
            <a:avLst/>
          </a:prstGeom>
        </p:spPr>
      </p:pic>
      <p:pic>
        <p:nvPicPr>
          <p:cNvPr id="16" name="Picture 15" descr="c_4e06f4ed17dd468f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4537" y="1993392"/>
            <a:ext cx="502310" cy="420624"/>
          </a:xfrm>
          <a:prstGeom prst="rect">
            <a:avLst/>
          </a:prstGeom>
        </p:spPr>
      </p:pic>
      <p:pic>
        <p:nvPicPr>
          <p:cNvPr id="17" name="Picture 16" descr="c_42f95bb4b94fe8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6848" y="1993392"/>
            <a:ext cx="502310" cy="420624"/>
          </a:xfrm>
          <a:prstGeom prst="rect">
            <a:avLst/>
          </a:prstGeom>
        </p:spPr>
      </p:pic>
      <p:pic>
        <p:nvPicPr>
          <p:cNvPr id="18" name="Picture 17" descr="c_1acbb837da6702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9158" y="1993392"/>
            <a:ext cx="502310" cy="420624"/>
          </a:xfrm>
          <a:prstGeom prst="rect">
            <a:avLst/>
          </a:prstGeom>
        </p:spPr>
      </p:pic>
      <p:pic>
        <p:nvPicPr>
          <p:cNvPr id="19" name="Picture 18" descr="c_362261f7a0c166a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1468" y="1993392"/>
            <a:ext cx="502310" cy="420624"/>
          </a:xfrm>
          <a:prstGeom prst="rect">
            <a:avLst/>
          </a:prstGeom>
        </p:spPr>
      </p:pic>
      <p:pic>
        <p:nvPicPr>
          <p:cNvPr id="20" name="Picture 19" descr="c_37b543978c57a77c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3779" y="1993392"/>
            <a:ext cx="502310" cy="420624"/>
          </a:xfrm>
          <a:prstGeom prst="rect">
            <a:avLst/>
          </a:prstGeom>
        </p:spPr>
      </p:pic>
      <p:pic>
        <p:nvPicPr>
          <p:cNvPr id="21" name="Picture 20" descr="c_5937f882eb120ba1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46089" y="1993392"/>
            <a:ext cx="502310" cy="420624"/>
          </a:xfrm>
          <a:prstGeom prst="rect">
            <a:avLst/>
          </a:prstGeom>
        </p:spPr>
      </p:pic>
      <p:pic>
        <p:nvPicPr>
          <p:cNvPr id="22" name="Picture 21" descr="c_1dc0aa95d5b6e1bf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48400" y="1993392"/>
            <a:ext cx="502310" cy="420624"/>
          </a:xfrm>
          <a:prstGeom prst="rect">
            <a:avLst/>
          </a:prstGeom>
        </p:spPr>
      </p:pic>
      <p:pic>
        <p:nvPicPr>
          <p:cNvPr id="23" name="Picture 22" descr="c_1c3d9d87f5f01b0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50710" y="1993392"/>
            <a:ext cx="502310" cy="420624"/>
          </a:xfrm>
          <a:prstGeom prst="rect">
            <a:avLst/>
          </a:prstGeom>
        </p:spPr>
      </p:pic>
      <p:pic>
        <p:nvPicPr>
          <p:cNvPr id="24" name="Picture 23" descr="c_186f80f316efbfb4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3020" y="1993392"/>
            <a:ext cx="502310" cy="420624"/>
          </a:xfrm>
          <a:prstGeom prst="rect">
            <a:avLst/>
          </a:prstGeom>
        </p:spPr>
      </p:pic>
      <p:pic>
        <p:nvPicPr>
          <p:cNvPr id="25" name="Picture 24" descr="c_13b30a29d661df6f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5331" y="1993392"/>
            <a:ext cx="502310" cy="420624"/>
          </a:xfrm>
          <a:prstGeom prst="rect">
            <a:avLst/>
          </a:prstGeom>
        </p:spPr>
      </p:pic>
      <p:pic>
        <p:nvPicPr>
          <p:cNvPr id="26" name="Picture 25" descr="c_6e6aa65db960764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7641" y="1993392"/>
            <a:ext cx="502310" cy="4206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84048" y="128016"/>
            <a:ext cx="1325880" cy="20116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229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0" i="0">
                <a:solidFill>
                  <a:srgbClr val="262626"/>
                </a:solidFill>
                <a:latin typeface="Calibri Light"/>
              </a:rPr>
              <a:t>Recent Data Points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" y="4846320"/>
            <a:ext cx="8375904" cy="0"/>
          </a:xfrm>
          <a:prstGeom prst="bentConnector3">
            <a:avLst/>
          </a:prstGeom>
          <a:ln w="9525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4882896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Calibri"/>
              </a:rPr>
              <a:t>Lincoln Property Company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4882896"/>
            <a:ext cx="373075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595959"/>
                </a:solidFill>
                <a:latin typeface="Calibri"/>
              </a:rPr>
              <a:t>Confidential: Not For Distribution      |      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914400"/>
            <a:ext cx="8375904" cy="566928"/>
          </a:xfrm>
          <a:prstGeom prst="rect">
            <a:avLst/>
          </a:prstGeom>
          <a:solidFill>
            <a:srgbClr val="F5B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978408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3D3000"/>
                </a:solidFill>
                <a:latin typeface="Calibri"/>
              </a:rPr>
              <a:t>WASHINGTON, DC METRO — DEBT DATA 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216152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3D3000"/>
                </a:solidFill>
                <a:latin typeface="Calibri"/>
              </a:rPr>
              <a:t>Recent Eastdil Secured Office Financings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00584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1" i="0">
                <a:solidFill>
                  <a:srgbClr val="3D3000"/>
                </a:solidFill>
                <a:latin typeface="Georgia"/>
              </a:rPr>
              <a:t>Lincoln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84048" y="1572768"/>
          <a:ext cx="8375904" cy="310895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170432"/>
                <a:gridCol w="900684"/>
                <a:gridCol w="900684"/>
                <a:gridCol w="900684"/>
                <a:gridCol w="900684"/>
                <a:gridCol w="900684"/>
                <a:gridCol w="900684"/>
                <a:gridCol w="900684"/>
                <a:gridCol w="900684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Reston Metro</a:t>
                      </a:r>
                    </a:p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Plaza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799 9th</a:t>
                      </a:r>
                    </a:p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St, NW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Square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2001 M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1401</a:t>
                      </a:r>
                    </a:p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New York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Three-Asset</a:t>
                      </a:r>
                    </a:p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Portfolio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901 K St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60" b="1" i="0">
                          <a:solidFill>
                            <a:srgbClr val="FFFFFF"/>
                          </a:solidFill>
                          <a:latin typeface="Calibri"/>
                        </a:rPr>
                        <a:t>Boro Tower</a:t>
                      </a:r>
                    </a:p>
                  </a:txBody>
                  <a:tcPr anchor="ctr" marL="45720" marR="36576" marT="9144" marB="9144">
                    <a:solidFill>
                      <a:srgbClr val="22222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595959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/>
                      <a:r>
                        <a:rPr sz="600" b="0" i="0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Marketing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Awarding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Under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FFFFFF"/>
                          </a:solidFill>
                          <a:latin typeface="Calibri"/>
                        </a:rPr>
                        <a:t>Contract</a:t>
                      </a:r>
                    </a:p>
                  </a:txBody>
                  <a:tcPr anchor="ctr" marL="45720" marR="36576" marT="9144" marB="9144">
                    <a:solidFill>
                      <a:srgbClr val="8C8C8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Jan-26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Jan-26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Jul-25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Jun-25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Closed</a:t>
                      </a:r>
                    </a:p>
                    <a:p>
                      <a:pPr algn="ctr"/>
                      <a:r>
                        <a:rPr sz="600" b="1" i="0">
                          <a:solidFill>
                            <a:srgbClr val="3D3000"/>
                          </a:solidFill>
                          <a:latin typeface="Calibri"/>
                        </a:rPr>
                        <a:t>May-25</a:t>
                      </a:r>
                    </a:p>
                  </a:txBody>
                  <a:tcPr anchor="ctr" marL="45720" marR="36576" marT="9144" marB="9144">
                    <a:solidFill>
                      <a:srgbClr val="F5B400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Sponsor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Comstock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Jemal Equities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Elliott / MC /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PRP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Stream Realty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Carr / Barings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Carr Properties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Shorenstein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Rockefeller /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TMG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SF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769,830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203,329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694,436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283,190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201,976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791,098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220,000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436,795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WALT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8.3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6.5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5.3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9.0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4.7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9.3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6.3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7.3 Yr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% Leased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99%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93%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94→81%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89%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68%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98→88%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Loan Amount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$299.1M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$83.1M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$340.0M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$118.5M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$73.4M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$278.3M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$76.1M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$175.0M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Loan PSF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$389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$409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$490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$418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$344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$352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$346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$401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LTV / LTC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75% LTV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75% LTC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70% LTV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69% LTC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(68%I/75%FF)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68% LTC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(65%I/84%FF)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60% LTV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67.5% LTC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(60%I/100%FF)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70% LTV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In-Place DY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9.6%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13.4%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13.9%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12.0%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12.6%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11.5→10.0%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Lender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Debt Fund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SASB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Debt Fund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Debt Fund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Bank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Balance Sheet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Debt Fund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Debt Fund</a:t>
                      </a:r>
                    </a:p>
                  </a:txBody>
                  <a:tcPr anchor="ctr" marL="45720" marR="36576" marT="9144" marB="9144">
                    <a:solidFill>
                      <a:srgbClr val="FFFFFF"/>
                    </a:solidFill>
                  </a:tcPr>
                </a:tc>
              </a:tr>
              <a:tr h="212140">
                <a:tc>
                  <a:txBody>
                    <a:bodyPr wrap="square"/>
                    <a:lstStyle/>
                    <a:p>
                      <a:pPr algn="l"/>
                      <a:r>
                        <a:rPr sz="600" b="1" i="0">
                          <a:solidFill>
                            <a:srgbClr val="262626"/>
                          </a:solidFill>
                          <a:latin typeface="Calibri"/>
                        </a:rPr>
                        <a:t>Pricing</a:t>
                      </a:r>
                    </a:p>
                  </a:txBody>
                  <a:tcPr anchor="ctr" marL="45720" marR="36576" marT="9144" marB="9144">
                    <a:solidFill>
                      <a:srgbClr val="FBEF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TBD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~4.25%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~2.75%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2.90%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4.05%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3.25%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4.15%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SOFR + 4.75%</a:t>
                      </a:r>
                    </a:p>
                    <a:p>
                      <a:pPr algn="ctr"/>
                      <a:r>
                        <a:rPr sz="600" b="0" i="0">
                          <a:solidFill>
                            <a:srgbClr val="262626"/>
                          </a:solidFill>
                          <a:latin typeface="Calibri"/>
                        </a:rPr>
                        <a:t>(+4.40% b/d)</a:t>
                      </a:r>
                    </a:p>
                  </a:txBody>
                  <a:tcPr anchor="ctr" marL="45720" marR="36576" marT="9144" marB="9144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pic>
        <p:nvPicPr>
          <p:cNvPr id="13" name="Picture 12" descr="c_3a9cf4f36a057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38528"/>
            <a:ext cx="900684" cy="365760"/>
          </a:xfrm>
          <a:prstGeom prst="rect">
            <a:avLst/>
          </a:prstGeom>
        </p:spPr>
      </p:pic>
      <p:pic>
        <p:nvPicPr>
          <p:cNvPr id="14" name="Picture 13" descr="c_20a2bc680047d8ef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5164" y="1938528"/>
            <a:ext cx="900684" cy="365760"/>
          </a:xfrm>
          <a:prstGeom prst="rect">
            <a:avLst/>
          </a:prstGeom>
        </p:spPr>
      </p:pic>
      <p:pic>
        <p:nvPicPr>
          <p:cNvPr id="15" name="Picture 14" descr="c_2020b9ebff36968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5848" y="1938528"/>
            <a:ext cx="900684" cy="365760"/>
          </a:xfrm>
          <a:prstGeom prst="rect">
            <a:avLst/>
          </a:prstGeom>
        </p:spPr>
      </p:pic>
      <p:pic>
        <p:nvPicPr>
          <p:cNvPr id="16" name="Picture 15" descr="c_764f3bfa27bbdf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6532" y="1938528"/>
            <a:ext cx="900684" cy="365760"/>
          </a:xfrm>
          <a:prstGeom prst="rect">
            <a:avLst/>
          </a:prstGeom>
        </p:spPr>
      </p:pic>
      <p:pic>
        <p:nvPicPr>
          <p:cNvPr id="17" name="Picture 16" descr="c_2971ce9e10736d8b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7216" y="1938528"/>
            <a:ext cx="900684" cy="365760"/>
          </a:xfrm>
          <a:prstGeom prst="rect">
            <a:avLst/>
          </a:prstGeom>
        </p:spPr>
      </p:pic>
      <p:pic>
        <p:nvPicPr>
          <p:cNvPr id="18" name="Picture 17" descr="c_7af2b5713f5c092c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900" y="1938528"/>
            <a:ext cx="900684" cy="365760"/>
          </a:xfrm>
          <a:prstGeom prst="rect">
            <a:avLst/>
          </a:prstGeom>
        </p:spPr>
      </p:pic>
      <p:pic>
        <p:nvPicPr>
          <p:cNvPr id="19" name="Picture 18" descr="c_7bc10ca9a43b84cd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584" y="1938528"/>
            <a:ext cx="900684" cy="365760"/>
          </a:xfrm>
          <a:prstGeom prst="rect">
            <a:avLst/>
          </a:prstGeom>
        </p:spPr>
      </p:pic>
      <p:pic>
        <p:nvPicPr>
          <p:cNvPr id="20" name="Picture 19" descr="c_1c7dc1fc39dffc5f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9267" y="1938528"/>
            <a:ext cx="900684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141732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5B400"/>
                </a:solidFill>
                <a:latin typeface="Calibri Light"/>
              </a:rP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Matt Nicholson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Executive Vice President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mnicholson@lpc.com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743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Jake Guttman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Director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33832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jguttman@lpc.com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743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Jackson Coviello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Assistant Vice President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832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jcoviello@lpc.com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27432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alibri Light"/>
              </a:rPr>
              <a:t>Jared Hicks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3127248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338328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jahicks@lpc.com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160520"/>
            <a:ext cx="5486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Lincoln Property Company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101 Constitution Ave. NW, Suite 325 East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Washington, DC 20001</a:t>
            </a:r>
          </a:p>
          <a:p>
            <a:pPr algn="l">
              <a:spcAft>
                <a:spcPts val="30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www.lpc.com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