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60520" y="0"/>
            <a:ext cx="4983480" cy="51435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60520" y="2286000"/>
            <a:ext cx="4983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8C8C8C"/>
                </a:solidFill>
                <a:latin typeface="Calibri"/>
              </a:rPr>
              <a:t>[ Insert 2300 N Street property photograph 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3474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5B400"/>
                </a:solidFill>
                <a:latin typeface="Georgia"/>
              </a:rPr>
              <a:t>Lincoln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 Light"/>
              </a:rPr>
              <a:t>Investment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3160"/>
            <a:ext cx="3566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 Light"/>
              </a:rPr>
              <a:t>2300 N Street, NW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520440"/>
            <a:ext cx="3474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Washington, DC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West End Submarket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5196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Lincoln Property Company  |  Oaktree Capital Management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709160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Confidential Equity Memorandum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691640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5B400"/>
                </a:solidFill>
                <a:latin typeface="Calibri Light"/>
              </a:rP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173736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 Light"/>
              </a:rPr>
              <a:t>Property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52360" y="1737360"/>
            <a:ext cx="1005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 Light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239572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 Light"/>
              </a:rPr>
              <a:t>Tenancy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2395728"/>
            <a:ext cx="1005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 Light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3054096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 Light"/>
              </a:rPr>
              <a:t>Market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52360" y="3054096"/>
            <a:ext cx="1005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 Light"/>
              </a:rPr>
              <a:t>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128016"/>
            <a:ext cx="1325880" cy="20116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8229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262626"/>
                </a:solidFill>
                <a:latin typeface="Calibri Light"/>
              </a:rPr>
              <a:t>Property Overview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4846320"/>
            <a:ext cx="8375904" cy="0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84048" y="4882896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Calibri"/>
              </a:rPr>
              <a:t>Lincoln Property Company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4882896"/>
            <a:ext cx="37307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Confidential: Not For Distribution      |     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960120"/>
            <a:ext cx="49834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262626"/>
                </a:solidFill>
                <a:latin typeface="Calibri"/>
              </a:rPr>
              <a:t>2300 N Street is a 282,943 SF, 8-story Class A office building in Washington, DC's supply-constrained West End submarket. Built in 1986 and renovated in 2018, the asset is 87.8% leased with 9.4 years of WALT and best-in-class amenities.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84048" y="1874519"/>
          <a:ext cx="4983480" cy="26517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25880"/>
                <a:gridCol w="1188720"/>
                <a:gridCol w="1051560"/>
                <a:gridCol w="1417320"/>
              </a:tblGrid>
              <a:tr h="331470">
                <a:tc gridSpan="4"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D3000"/>
                          </a:solidFill>
                          <a:latin typeface="Calibri"/>
                        </a:rPr>
                        <a:t>Property Description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Size (SF):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282,943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Submarket: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West End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Stories: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% Leased: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87.8%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Year Built / Reno: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1986 / 2018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In-Place WALT: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9.4 Years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Typical Floor: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38,391 SF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Parking: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300 spaces (0.98/1,000 SF)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Building Class: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Class A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Zoning: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MU-10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Land Area: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1.13 AC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Metro: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Foggy Bottom-GWU (9-min walk)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Amenities: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Fitness, Roof Terrace,</a:t>
                      </a:r>
                    </a:p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Conferencing, Restaurant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Ownership: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Lincoln Property Co. / Oaktree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5532120" y="960120"/>
            <a:ext cx="3227832" cy="17373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32120" y="1737360"/>
            <a:ext cx="3227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595959"/>
                </a:solidFill>
                <a:latin typeface="Calibri"/>
              </a:rPr>
              <a:t>[ Property exterior photograph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32120" y="2788920"/>
            <a:ext cx="3227832" cy="17373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32120" y="3566160"/>
            <a:ext cx="3227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595959"/>
                </a:solidFill>
                <a:latin typeface="Calibri"/>
              </a:rPr>
              <a:t>[ Roof terrace / lobby photograph 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128016"/>
            <a:ext cx="1325880" cy="20116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8229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262626"/>
                </a:solidFill>
                <a:latin typeface="Calibri Light"/>
              </a:rPr>
              <a:t>Value Considerations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4846320"/>
            <a:ext cx="8375904" cy="0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84048" y="4882896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Calibri"/>
              </a:rPr>
              <a:t>Lincoln Property Company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4882896"/>
            <a:ext cx="37307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Confidential: Not For Distribution      |    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1005840"/>
            <a:ext cx="8375904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10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100" b="1" i="0">
                <a:solidFill>
                  <a:srgbClr val="262626"/>
                </a:solidFill>
                <a:latin typeface="Calibri"/>
              </a:rPr>
              <a:t>Hold Period:  </a:t>
            </a:r>
            <a:r>
              <a:rPr sz="1100" b="0" i="0">
                <a:solidFill>
                  <a:srgbClr val="262626"/>
                </a:solidFill>
                <a:latin typeface="Calibri"/>
              </a:rPr>
              <a:t>A 5-year hold is consistent with target investment horizons for active office capital and aligns with available financing.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10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100" b="1" i="0">
                <a:solidFill>
                  <a:srgbClr val="262626"/>
                </a:solidFill>
                <a:latin typeface="Calibri"/>
              </a:rPr>
              <a:t>Return Metrics:  </a:t>
            </a:r>
            <a:r>
              <a:rPr sz="1100" b="0" i="0">
                <a:solidFill>
                  <a:srgbClr val="262626"/>
                </a:solidFill>
                <a:latin typeface="Calibri"/>
              </a:rPr>
              <a:t>With material near-term leasing and capital, investors are likely to solve for an 18–20% levered IRR and a 12–14% stabilized return on cost.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10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100" b="1" i="0">
                <a:solidFill>
                  <a:srgbClr val="262626"/>
                </a:solidFill>
                <a:latin typeface="Calibri"/>
              </a:rPr>
              <a:t>Capital Projections:  </a:t>
            </a:r>
            <a:r>
              <a:rPr sz="1100" b="0" i="0">
                <a:solidFill>
                  <a:srgbClr val="262626"/>
                </a:solidFill>
                <a:latin typeface="Calibri"/>
              </a:rPr>
              <a:t>Prior ownership invested ~$22.0M ($76 PSF) in base-building and amenity upgrades; $1.3M ($5 PSF) of outstanding TI/LCs is credited at closing; ES assumes a buyer underwrites $3.0M ($10 PSF) of near-term capital following sale.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10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100" b="1" i="0">
                <a:solidFill>
                  <a:srgbClr val="262626"/>
                </a:solidFill>
                <a:latin typeface="Calibri"/>
              </a:rPr>
              <a:t>Market Rents:  </a:t>
            </a:r>
            <a:r>
              <a:rPr sz="1100" b="0" i="0">
                <a:solidFill>
                  <a:srgbClr val="262626"/>
                </a:solidFill>
                <a:latin typeface="Calibri"/>
              </a:rPr>
              <a:t>Eastdil is underwriting typical office rents of $55.00–63.50 FSG, building on recent leasing at the asset.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10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100" b="1" i="0">
                <a:solidFill>
                  <a:srgbClr val="262626"/>
                </a:solidFill>
                <a:latin typeface="Calibri"/>
              </a:rPr>
              <a:t>Stabilized Occupancy:  </a:t>
            </a:r>
            <a:r>
              <a:rPr sz="1100" b="0" i="0">
                <a:solidFill>
                  <a:srgbClr val="262626"/>
                </a:solidFill>
                <a:latin typeface="Calibri"/>
              </a:rPr>
              <a:t>Occupancy steps to 77% after Aspen's downsize and Plan International's 2027 termination; ~40,000 SF of leasing in the first three years stabilizes occupancy at 90%.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10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100" b="1" i="0">
                <a:solidFill>
                  <a:srgbClr val="262626"/>
                </a:solidFill>
                <a:latin typeface="Calibri"/>
              </a:rPr>
              <a:t>Real Estate Taxes:  </a:t>
            </a:r>
            <a:r>
              <a:rPr sz="1100" b="0" i="0">
                <a:solidFill>
                  <a:srgbClr val="262626"/>
                </a:solidFill>
                <a:latin typeface="Calibri"/>
              </a:rPr>
              <a:t>ES assumes a 20% decrease in assessed value following sale, to $104.6M ($370 PSF), growing at inflation thereafter.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10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100" b="1" i="0">
                <a:solidFill>
                  <a:srgbClr val="262626"/>
                </a:solidFill>
                <a:latin typeface="Calibri"/>
              </a:rPr>
              <a:t>Market Financing:  </a:t>
            </a:r>
            <a:r>
              <a:rPr sz="1100" b="0" i="0">
                <a:solidFill>
                  <a:srgbClr val="262626"/>
                </a:solidFill>
                <a:latin typeface="Calibri"/>
              </a:rPr>
              <a:t>The most efficient structure is a floating-rate execution — 65% Initial LTV with 65% Future Funding for leasing/capex at SOFR + 3.75%.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10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100" b="1" i="0">
                <a:solidFill>
                  <a:srgbClr val="262626"/>
                </a:solidFill>
                <a:latin typeface="Calibri"/>
              </a:rPr>
              <a:t>Exit Cap Rate:  </a:t>
            </a:r>
            <a:r>
              <a:rPr sz="1100" b="0" i="0">
                <a:solidFill>
                  <a:srgbClr val="262626"/>
                </a:solidFill>
                <a:latin typeface="Calibri"/>
              </a:rPr>
              <a:t>ES underwrote a 9.5% exit cap, a $100.9M ($357 PSF) residual; absent clarity on Jackson &amp; Campbell, investors underwrite a vacate (~50 bps of residual impact).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4590288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95959"/>
                </a:solidFill>
                <a:latin typeface="Calibri"/>
              </a:rPr>
              <a:t>Source: Eastdil Secured Opinion of Value (Jun-2026).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128016"/>
            <a:ext cx="1325880" cy="20116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8229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262626"/>
                </a:solidFill>
                <a:latin typeface="Calibri Light"/>
              </a:rPr>
              <a:t>Valuation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4846320"/>
            <a:ext cx="8375904" cy="0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84048" y="4882896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Calibri"/>
              </a:rPr>
              <a:t>Lincoln Property Company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4882896"/>
            <a:ext cx="37307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Confidential: Not For Distribution      |    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960120"/>
            <a:ext cx="8366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200" b="0" i="0">
                <a:solidFill>
                  <a:srgbClr val="262626"/>
                </a:solidFill>
                <a:latin typeface="Calibri"/>
              </a:rPr>
              <a:t>Levered-IRR sensitivity — 5-year hold beginning October 2026; 65% LTV / 65% future funding at SOFR + 3.75% (7.43% coupon).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84048" y="1783080"/>
          <a:ext cx="5486400" cy="21945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822960"/>
                <a:gridCol w="822960"/>
                <a:gridCol w="822960"/>
                <a:gridCol w="822960"/>
                <a:gridCol w="822960"/>
              </a:tblGrid>
              <a:tr h="313508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Levered IRR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 gridSpan="5"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3D3000"/>
                          </a:solidFill>
                          <a:latin typeface="Calibri"/>
                        </a:rPr>
                        <a:t>Exit Cap Rate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13508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Price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9.00%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9.25%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9.50%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9.75%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10.00%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313508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$75,000,000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17.51%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16.37%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15.24%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14.12%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13.01%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313508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$72,500,000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19.33%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18.22%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17.12%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16.03%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14.96%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313508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$70,000,000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21.19%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20.10%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3D3000"/>
                          </a:solidFill>
                          <a:latin typeface="Calibri"/>
                        </a:rPr>
                        <a:t>19.03%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17.97%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16.93%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313508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$67,500,000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23.08%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22.02%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20.98%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19.95%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18.93%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313512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$65,000,000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25.02%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23.99%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22.96%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21.96%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20.97%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26480" y="1737360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62626"/>
                </a:solidFill>
                <a:latin typeface="Calibri Light"/>
              </a:rPr>
              <a:t>At ~$70.0M / $247 PSF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21488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Calibri"/>
              </a:rPr>
              <a:t>In-Place Cap Rate (87.8% occ)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21488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62626"/>
                </a:solidFill>
                <a:latin typeface="Calibri"/>
              </a:rPr>
              <a:t>11.93%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459736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Calibri"/>
              </a:rPr>
              <a:t>Adjusted Cap Rate (76.8% occ)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2459736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62626"/>
                </a:solidFill>
                <a:latin typeface="Calibri"/>
              </a:rPr>
              <a:t>8.86%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770632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Calibri"/>
              </a:rPr>
              <a:t>Stabilized Return on Cost (Yr 5)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277063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62626"/>
                </a:solidFill>
                <a:latin typeface="Calibri"/>
              </a:rPr>
              <a:t>12.04%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3081527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Calibri"/>
              </a:rPr>
              <a:t>Average Cash Yield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3081527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62626"/>
                </a:solidFill>
                <a:latin typeface="Calibri"/>
              </a:rPr>
              <a:t>9.42%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3392423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Calibri"/>
              </a:rPr>
              <a:t>Levered IRR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3392423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62626"/>
                </a:solidFill>
                <a:latin typeface="Calibri"/>
              </a:rPr>
              <a:t>19.03%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370332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Calibri"/>
              </a:rPr>
              <a:t>Equity Multiple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37033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62626"/>
                </a:solidFill>
                <a:latin typeface="Calibri"/>
              </a:rPr>
              <a:t>2.14x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4014215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Calibri"/>
              </a:rPr>
              <a:t>Reversion PSF (9.50% exit)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60" y="4014215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62626"/>
                </a:solidFill>
                <a:latin typeface="Calibri"/>
              </a:rPr>
              <a:t>$357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8" y="4160520"/>
            <a:ext cx="5486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1">
                <a:solidFill>
                  <a:srgbClr val="595959"/>
                </a:solidFill>
                <a:latin typeface="Calibri"/>
              </a:rPr>
              <a:t>Loan balance of $100M implies a ~25–35% discount to par at the ES value range. Source: Eastdil Secured Opinion of Value (Jun-2026).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B0A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48640"/>
            <a:ext cx="8229600" cy="41148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0000" b="1" i="0">
                <a:solidFill>
                  <a:srgbClr val="BEB2D2"/>
                </a:solidFill>
                <a:latin typeface="Georgia"/>
              </a:rPr>
              <a:t>Lincoln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0116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000000"/>
                </a:solidFill>
                <a:latin typeface="Calibri Light"/>
              </a:rPr>
              <a:t>Tenancy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128016"/>
            <a:ext cx="1325880" cy="20116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8229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262626"/>
                </a:solidFill>
                <a:latin typeface="Calibri Light"/>
              </a:rPr>
              <a:t>Tenant Overview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4846320"/>
            <a:ext cx="8375904" cy="0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84048" y="4882896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Calibri"/>
              </a:rPr>
              <a:t>Lincoln Property Company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4882896"/>
            <a:ext cx="37307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Confidential: Not For Distribution      |      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84048" y="960120"/>
          <a:ext cx="5440680" cy="35661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17320"/>
                <a:gridCol w="640080"/>
                <a:gridCol w="822960"/>
                <a:gridCol w="640080"/>
                <a:gridCol w="868680"/>
                <a:gridCol w="1051560"/>
              </a:tblGrid>
              <a:tr h="274320">
                <a:tc gridSpan="6"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3D3000"/>
                          </a:solidFill>
                          <a:latin typeface="Calibri"/>
                        </a:rPr>
                        <a:t>Tenant Summary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alibri"/>
                        </a:rPr>
                        <a:t>Tenant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Calibri"/>
                        </a:rPr>
                        <a:t>Floors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Calibri"/>
                        </a:rPr>
                        <a:t>SF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Calibri"/>
                        </a:rPr>
                        <a:t>% NRA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Calibri"/>
                        </a:rPr>
                        <a:t>Expiration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Calibri"/>
                        </a:rPr>
                        <a:t>Gross Rent ($/SF)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Aspen Institute ¹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6-8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91,395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32.3%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May-41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$71.56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BlackIvy / CINQCARE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2 &amp; 6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25,720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9.1%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Aug-34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$55.87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Bezos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4-5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23,874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8.4%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May-32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$28.31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Jackson &amp; Campbell ²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23,735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8.4%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Aug-35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$51.47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Two Birds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17,275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6.1%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Jun-38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$52.53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Holtzman Vogel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16,722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5.9%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Nov-36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$57.32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Plan International ³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15,485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5.5%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Oct-27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$67.03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Compass Point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10,034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3.5%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Sep-37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$53.50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Capital Power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6,562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2.3%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Jun-31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$55.00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Bar Angie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4,435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1.6%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Mar-40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$44.25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9" b="1" i="0">
                          <a:solidFill>
                            <a:srgbClr val="3D3000"/>
                          </a:solidFill>
                          <a:latin typeface="Calibri"/>
                        </a:rPr>
                        <a:t>Total Leased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1" i="0">
                          <a:solidFill>
                            <a:srgbClr val="3D3000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1" i="0">
                          <a:solidFill>
                            <a:srgbClr val="3D3000"/>
                          </a:solidFill>
                          <a:latin typeface="Calibri"/>
                        </a:rPr>
                        <a:t>248,300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1" i="0">
                          <a:solidFill>
                            <a:srgbClr val="3D3000"/>
                          </a:solidFill>
                          <a:latin typeface="Calibri"/>
                        </a:rPr>
                        <a:t>87.8%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1" i="0">
                          <a:solidFill>
                            <a:srgbClr val="3D3000"/>
                          </a:solidFill>
                          <a:latin typeface="Calibri"/>
                        </a:rPr>
                        <a:t>9.4 yrs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1" i="0">
                          <a:solidFill>
                            <a:srgbClr val="3D3000"/>
                          </a:solidFill>
                          <a:latin typeface="Calibri"/>
                        </a:rPr>
                        <a:t>$58.26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0" y="96012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62626"/>
                </a:solidFill>
                <a:latin typeface="Calibri Light"/>
              </a:rPr>
              <a:t>Key Considerations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1325880"/>
            <a:ext cx="31089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105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88% leased today, stepping to 77% after Aspen's 6th-floor downsize — nearly 10 years of WALT.</a:t>
            </a:r>
          </a:p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105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65,000+ SF (23% of NRA) of new leasing since Q4 2024; ~$1.3M of TI/LCs credited to a buyer at close.</a:t>
            </a:r>
          </a:p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105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Anchor Aspen Institute extended through May-2041 across floors 6–8.</a:t>
            </a:r>
          </a:p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105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Roll risk to watch: Plan International termination (Nov-2027) and Jackson &amp; Campbell sublease marketing ahead of its Aug-2035 expiry.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4590288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1">
                <a:solidFill>
                  <a:srgbClr val="595959"/>
                </a:solidFill>
                <a:latin typeface="Calibri"/>
              </a:rPr>
              <a:t>¹ Gives back 15,536 SF Dec-2026, extends through May-2041.   ² 100% of space on sublease market; ES assumes vacate at expiry.   ³ Subleased; termination effective Nov-2027.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128016"/>
            <a:ext cx="1325880" cy="20116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8229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262626"/>
                </a:solidFill>
                <a:latin typeface="Calibri Light"/>
              </a:rPr>
              <a:t>Recent Leasing Activity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4846320"/>
            <a:ext cx="8375904" cy="0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84048" y="4882896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Calibri"/>
              </a:rPr>
              <a:t>Lincoln Property Company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4882896"/>
            <a:ext cx="37307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Confidential: Not For Distribution      |      8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932688"/>
            <a:ext cx="8375904" cy="56692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996696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3D3000"/>
                </a:solidFill>
                <a:latin typeface="Calibri"/>
              </a:rPr>
              <a:t>2300 N STREET, NW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234440"/>
            <a:ext cx="5943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3D3000"/>
                </a:solidFill>
                <a:latin typeface="Calibri"/>
              </a:rPr>
              <a:t>Executed Leasing — Trailing 24 Months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1024128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400" b="1" i="0">
                <a:solidFill>
                  <a:srgbClr val="3D3000"/>
                </a:solidFill>
                <a:latin typeface="Georgia"/>
              </a:rPr>
              <a:t>Lincoln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" y="1600200"/>
          <a:ext cx="8375903" cy="30632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874519"/>
                <a:gridCol w="777240"/>
                <a:gridCol w="685800"/>
                <a:gridCol w="548640"/>
                <a:gridCol w="777240"/>
                <a:gridCol w="777240"/>
                <a:gridCol w="868680"/>
                <a:gridCol w="658368"/>
                <a:gridCol w="749808"/>
                <a:gridCol w="658368"/>
              </a:tblGrid>
              <a:tr h="25527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Tenant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Suite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NRA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% NRA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Commence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Rent ($/SF)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Term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Free Rent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TI ($/SF)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Reimb.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</a:tr>
              <a:tr h="255270">
                <a:tc>
                  <a:txBody>
                    <a:bodyPr wrap="square"/>
                    <a:lstStyle/>
                    <a:p>
                      <a:pPr algn="l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Aspen Institute (Renewal)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0700-0800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75,859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26.8%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1/1/2027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$63.50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14 Yr 5 Mo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9 Mo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$0.00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FSG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55270">
                <a:tc>
                  <a:txBody>
                    <a:bodyPr wrap="square"/>
                    <a:lstStyle/>
                    <a:p>
                      <a:pPr algn="l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Compass Point (New)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0450-0460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10,034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3.5%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6/1/2026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$53.50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11 Yr 4 Mo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16 Mo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$100.00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FSG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255270">
                <a:tc>
                  <a:txBody>
                    <a:bodyPr wrap="square"/>
                    <a:lstStyle/>
                    <a:p>
                      <a:pPr algn="l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Capital Power (New)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0520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6,562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2.3%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1/1/2026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$55.00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5 Yr 6 Mo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6 Mo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$0.00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FSG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55270">
                <a:tc>
                  <a:txBody>
                    <a:bodyPr wrap="square"/>
                    <a:lstStyle/>
                    <a:p>
                      <a:pPr algn="l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Bar Angie Storage (Exp.)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0210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2,841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1.0%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6/20/2025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$25.34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8 Yr 10 Mo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0 Mo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$0.00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NNN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255270">
                <a:tc>
                  <a:txBody>
                    <a:bodyPr wrap="square"/>
                    <a:lstStyle/>
                    <a:p>
                      <a:pPr algn="l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Jackson &amp; Campbell (Renewal)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0300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23,735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8.4%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3/1/2025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$50.00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10 Yr 6 Mo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0 Mo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$0.00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FSG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55270">
                <a:tc>
                  <a:txBody>
                    <a:bodyPr wrap="square"/>
                    <a:lstStyle/>
                    <a:p>
                      <a:pPr algn="l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Holtzman Vogel (Exp.)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0610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10,280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3.6%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3/1/2025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$55.50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12 Yr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20 Mo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$135.00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FSG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255270">
                <a:tc>
                  <a:txBody>
                    <a:bodyPr wrap="square"/>
                    <a:lstStyle/>
                    <a:p>
                      <a:pPr algn="l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Bezos (New)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0400-0500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23,874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8.4%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2/1/2025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$27.35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7 Yr 4 Mo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3 Mo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$0.00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FSG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55270">
                <a:tc>
                  <a:txBody>
                    <a:bodyPr wrap="square"/>
                    <a:lstStyle/>
                    <a:p>
                      <a:pPr algn="l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Global Impact (New)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0501A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4,039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2/1/2025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$44.00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7 Yr 4 Mo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2 Mo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$0.00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FSG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255270">
                <a:tc>
                  <a:txBody>
                    <a:bodyPr wrap="square"/>
                    <a:lstStyle/>
                    <a:p>
                      <a:pPr algn="l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Timmons (New)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0410B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3,755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2/1/2025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$46.51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 Yr 9 Mo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0 Mo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$0.00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FSG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55270">
                <a:tc>
                  <a:txBody>
                    <a:bodyPr wrap="square"/>
                    <a:lstStyle/>
                    <a:p>
                      <a:pPr algn="l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Bar Angie (New)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0100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4,435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1.6%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10/1/2024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$41.71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15 Yr 6 Mo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6 Mo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$281.85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NNN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255270">
                <a:tc>
                  <a:txBody>
                    <a:bodyPr wrap="square"/>
                    <a:lstStyle/>
                    <a:p>
                      <a:pPr algn="l"/>
                      <a:r>
                        <a:rPr sz="780" b="1" i="0">
                          <a:solidFill>
                            <a:srgbClr val="3D3000"/>
                          </a:solidFill>
                          <a:latin typeface="Calibri"/>
                        </a:rPr>
                        <a:t>Total / Avg.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1" i="0">
                          <a:solidFill>
                            <a:srgbClr val="3D3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1" i="0">
                          <a:solidFill>
                            <a:srgbClr val="3D3000"/>
                          </a:solidFill>
                          <a:latin typeface="Calibri"/>
                        </a:rPr>
                        <a:t>165,414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1" i="0">
                          <a:solidFill>
                            <a:srgbClr val="3D3000"/>
                          </a:solidFill>
                          <a:latin typeface="Calibri"/>
                        </a:rPr>
                        <a:t>58.5%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1" i="0">
                          <a:solidFill>
                            <a:srgbClr val="3D3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1" i="0">
                          <a:solidFill>
                            <a:srgbClr val="3D3000"/>
                          </a:solidFill>
                          <a:latin typeface="Calibri"/>
                        </a:rPr>
                        <a:t>$52.80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1" i="0">
                          <a:solidFill>
                            <a:srgbClr val="3D3000"/>
                          </a:solidFill>
                          <a:latin typeface="Calibri"/>
                        </a:rPr>
                        <a:t>139 Mo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1" i="0">
                          <a:solidFill>
                            <a:srgbClr val="3D3000"/>
                          </a:solidFill>
                          <a:latin typeface="Calibri"/>
                        </a:rPr>
                        <a:t>7.2 Mo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1" i="0">
                          <a:solidFill>
                            <a:srgbClr val="3D3000"/>
                          </a:solidFill>
                          <a:latin typeface="Calibri"/>
                        </a:rPr>
                        <a:t>$22.01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1" i="0">
                          <a:solidFill>
                            <a:srgbClr val="3D3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84048" y="461772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95959"/>
                </a:solidFill>
                <a:latin typeface="Calibri"/>
              </a:rPr>
              <a:t>Source: Eastdil Secured Opinion of Value (Jun-2026).  Rents shown gross.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B0A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48640"/>
            <a:ext cx="8229600" cy="41148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0000" b="1" i="0">
                <a:solidFill>
                  <a:srgbClr val="BEB2D2"/>
                </a:solidFill>
                <a:latin typeface="Georgia"/>
              </a:rPr>
              <a:t>Lincoln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0116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000000"/>
                </a:solidFill>
                <a:latin typeface="Calibri Light"/>
              </a:rPr>
              <a:t>Market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128016"/>
            <a:ext cx="1325880" cy="20116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8229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262626"/>
                </a:solidFill>
                <a:latin typeface="Calibri Light"/>
              </a:rPr>
              <a:t>Washington, DC Metro Office Market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4846320"/>
            <a:ext cx="8375904" cy="0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84048" y="4882896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Calibri"/>
              </a:rPr>
              <a:t>Lincoln Property Company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4882896"/>
            <a:ext cx="37307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Confidential: Not For Distribution      |     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960120"/>
            <a:ext cx="4114800" cy="365760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00584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D3000"/>
                </a:solidFill>
                <a:latin typeface="Calibri"/>
              </a:rPr>
              <a:t>The Good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45152" y="960120"/>
            <a:ext cx="4114800" cy="365760"/>
          </a:xfrm>
          <a:prstGeom prst="rect">
            <a:avLst/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45152" y="100584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What's Challenging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1463040"/>
            <a:ext cx="40690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05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Office trade volume is accelerating — 3rd-highest 2025 US volume and 2nd-highest number of transactions.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05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The return-to-office mandate has increased DC activity and added contractor demand.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05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Pricing bands for office have formed.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05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Newer-vintage product outperforms — nearly all net absorption is in post-2010 built/renovated space.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05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Record rents are being achieved for new construction and high-quality space.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05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Minimal new supply plus 6.9 MSF of office→residential/hotel conversions will keep improving fundamentals.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1463040"/>
            <a:ext cx="41148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050" b="1" i="0">
                <a:solidFill>
                  <a:srgbClr val="222222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DC headlines (DOGE, GSA footprint, tariffs, National Guard, shutdown) create hurdles for investors.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050" b="1" i="0">
                <a:solidFill>
                  <a:srgbClr val="222222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Headline vacancy above 20% in most submarkets is forcing heightened concessions, especially for commodity product.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050" b="1" i="0">
                <a:solidFill>
                  <a:srgbClr val="222222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Leasing velocity remains mixed outside of Class-A space.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050" b="1" i="0">
                <a:solidFill>
                  <a:srgbClr val="222222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Investors are underwriting significant capital amid escalating costs for non-trophy assets.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461772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95959"/>
                </a:solidFill>
                <a:latin typeface="Calibri"/>
              </a:rPr>
              <a:t>Source: Eastdil Secured Opinion of Value (Jun-2026).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128016"/>
            <a:ext cx="1325880" cy="20116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8229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262626"/>
                </a:solidFill>
                <a:latin typeface="Calibri Light"/>
              </a:rPr>
              <a:t>Recent Data Points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4846320"/>
            <a:ext cx="8375904" cy="0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84048" y="4882896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Calibri"/>
              </a:rPr>
              <a:t>Lincoln Property Company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4882896"/>
            <a:ext cx="37307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Confidential: Not For Distribution      |      11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932688"/>
            <a:ext cx="8375904" cy="56692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996696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3D3000"/>
                </a:solidFill>
                <a:latin typeface="Calibri"/>
              </a:rPr>
              <a:t>WASHINGTON, DC — CLASS-A SALES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234440"/>
            <a:ext cx="5943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3D3000"/>
                </a:solidFill>
                <a:latin typeface="Calibri"/>
              </a:rPr>
              <a:t>Recent &amp; Active Comparable Transactions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1024128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400" b="1" i="0">
                <a:solidFill>
                  <a:srgbClr val="3D3000"/>
                </a:solidFill>
                <a:latin typeface="Georgia"/>
              </a:rPr>
              <a:t>Lincoln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" y="1600200"/>
          <a:ext cx="8375904" cy="31089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00200"/>
                <a:gridCol w="822960"/>
                <a:gridCol w="658368"/>
                <a:gridCol w="713232"/>
                <a:gridCol w="566928"/>
                <a:gridCol w="777240"/>
                <a:gridCol w="658368"/>
                <a:gridCol w="457200"/>
                <a:gridCol w="1005840"/>
                <a:gridCol w="1115568"/>
              </a:tblGrid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740" b="1" i="0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1" i="0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1" i="0">
                          <a:solidFill>
                            <a:srgbClr val="FFFFFF"/>
                          </a:solidFill>
                          <a:latin typeface="Calibri"/>
                        </a:rPr>
                        <a:t>SF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1" i="0">
                          <a:solidFill>
                            <a:srgbClr val="FFFFFF"/>
                          </a:solidFill>
                          <a:latin typeface="Calibri"/>
                        </a:rPr>
                        <a:t>% Leased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1" i="0">
                          <a:solidFill>
                            <a:srgbClr val="FFFFFF"/>
                          </a:solidFill>
                          <a:latin typeface="Calibri"/>
                        </a:rPr>
                        <a:t>WALT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1" i="0">
                          <a:solidFill>
                            <a:srgbClr val="FFFFFF"/>
                          </a:solidFill>
                          <a:latin typeface="Calibri"/>
                        </a:rPr>
                        <a:t>Cap Rate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1" i="0">
                          <a:solidFill>
                            <a:srgbClr val="FFFFFF"/>
                          </a:solidFill>
                          <a:latin typeface="Calibri"/>
                        </a:rPr>
                        <a:t>Price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1" i="0">
                          <a:solidFill>
                            <a:srgbClr val="FFFFFF"/>
                          </a:solidFill>
                          <a:latin typeface="Calibri"/>
                        </a:rPr>
                        <a:t>$/SF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1" i="0">
                          <a:solidFill>
                            <a:srgbClr val="FFFFFF"/>
                          </a:solidFill>
                          <a:latin typeface="Calibri"/>
                        </a:rPr>
                        <a:t>Buyer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1" i="0">
                          <a:solidFill>
                            <a:srgbClr val="FFFFFF"/>
                          </a:solidFill>
                          <a:latin typeface="Calibri"/>
                        </a:rPr>
                        <a:t>Seller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2001 M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Closed Jan-26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284,000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93%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9.0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8.90%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$163.3M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$577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Stream Realty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Brookfield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1401 New York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Closed Jan-26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211,000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94%→81%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4.7 Yr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11.5%→9.0%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$85.0M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$402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Carr / Barings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AXA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901 K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Closed Jun-25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220,000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68%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6.3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8.00%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$85.0M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$386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Shorenstein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Carr Properties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District Wharf (670/680/1000 Maine)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Closed May-25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750,000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92%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13.0 Yr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6.50%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$628.0M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$835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PSP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Hoffman / Madison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District Wharf (800 Maine)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Closed May-25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150,000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8.5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8.00%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$63.2M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$425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PSP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Hoffman / Madison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2000 K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Closed Jul-24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233,000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88%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7.0 Yr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8.00%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$140.2M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$600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Spear Street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Tishman / Deka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1099 New York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Closed Mar-24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181,000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95%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9.0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9.25%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$95.0M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$525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FarmView / Quad.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Credit Suisse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1330 Connecticut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Awarded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259,000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80%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11.1 Yr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9.00%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$92.5M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$358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Confidential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BXP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799 9th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Awarded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205,000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82%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6.6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9.75%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$100.0M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$488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Confidential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Brookfield / AussieSuper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Hamilton Square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Awarded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248,000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6.6 Yr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8.90%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$127.5M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$514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Confidential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CommonWealth / CalPERS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888 16th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Bidding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107,000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95%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8.6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8.50%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$75.0M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$700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TBD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Trammell Crow / Meadow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84048" y="461772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95959"/>
                </a:solidFill>
                <a:latin typeface="Calibri"/>
              </a:rPr>
              <a:t>Class-A pricing: $400–$600 PSF, ~82% average occupancy, ~8.8% in-place cap. Source: Eastdil Secured Opinion of Value (Jun-2026).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128016"/>
            <a:ext cx="1325880" cy="20116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8229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262626"/>
                </a:solidFill>
                <a:latin typeface="Calibri Light"/>
              </a:rPr>
              <a:t>Recent Data Points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4846320"/>
            <a:ext cx="8375904" cy="0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84048" y="4882896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Calibri"/>
              </a:rPr>
              <a:t>Lincoln Property Company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4882896"/>
            <a:ext cx="37307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Confidential: Not For Distribution      |     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932688"/>
            <a:ext cx="8375904" cy="56692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996696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3D3000"/>
                </a:solidFill>
                <a:latin typeface="Calibri"/>
              </a:rPr>
              <a:t>WASHINGTON, DC — COMMODITY SALES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234440"/>
            <a:ext cx="5943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3D3000"/>
                </a:solidFill>
                <a:latin typeface="Calibri"/>
              </a:rPr>
              <a:t>Recent &amp; Active Comparable Transactions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1024128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400" b="1" i="0">
                <a:solidFill>
                  <a:srgbClr val="3D3000"/>
                </a:solidFill>
                <a:latin typeface="Georgia"/>
              </a:rPr>
              <a:t>Lincoln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" y="1536192"/>
          <a:ext cx="8375904" cy="30175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960120"/>
                <a:gridCol w="621792"/>
                <a:gridCol w="713232"/>
                <a:gridCol w="713232"/>
                <a:gridCol w="548640"/>
                <a:gridCol w="822960"/>
                <a:gridCol w="1078992"/>
                <a:gridCol w="960120"/>
                <a:gridCol w="722376"/>
              </a:tblGrid>
              <a:tr h="188595">
                <a:tc>
                  <a:txBody>
                    <a:bodyPr wrap="square"/>
                    <a:lstStyle/>
                    <a:p>
                      <a:pPr algn="l"/>
                      <a:r>
                        <a:rPr sz="700" b="1" i="0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 i="0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 i="0">
                          <a:solidFill>
                            <a:srgbClr val="FFFFFF"/>
                          </a:solidFill>
                          <a:latin typeface="Calibri"/>
                        </a:rPr>
                        <a:t>Yr Built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 i="0">
                          <a:solidFill>
                            <a:srgbClr val="FFFFFF"/>
                          </a:solidFill>
                          <a:latin typeface="Calibri"/>
                        </a:rPr>
                        <a:t>SF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 i="0">
                          <a:solidFill>
                            <a:srgbClr val="FFFFFF"/>
                          </a:solidFill>
                          <a:latin typeface="Calibri"/>
                        </a:rPr>
                        <a:t>% Leased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 i="0">
                          <a:solidFill>
                            <a:srgbClr val="FFFFFF"/>
                          </a:solidFill>
                          <a:latin typeface="Calibri"/>
                        </a:rPr>
                        <a:t>WALT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 i="0">
                          <a:solidFill>
                            <a:srgbClr val="FFFFFF"/>
                          </a:solidFill>
                          <a:latin typeface="Calibri"/>
                        </a:rPr>
                        <a:t>Cap Rate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 i="0">
                          <a:solidFill>
                            <a:srgbClr val="FFFFFF"/>
                          </a:solidFill>
                          <a:latin typeface="Calibri"/>
                        </a:rPr>
                        <a:t>Price / $PSF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 i="0">
                          <a:solidFill>
                            <a:srgbClr val="FFFFFF"/>
                          </a:solidFill>
                          <a:latin typeface="Calibri"/>
                        </a:rPr>
                        <a:t>Buyer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 i="0">
                          <a:solidFill>
                            <a:srgbClr val="FFFFFF"/>
                          </a:solidFill>
                          <a:latin typeface="Calibri"/>
                        </a:rPr>
                        <a:t>Seller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</a:tr>
              <a:tr h="18859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2445 M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Closed Apr-26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1986/19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300,000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80%→75%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7.7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9.0%→8.5%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$101.0M / $337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Eagle Cliff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Mesa West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18859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Watergate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Closed Mar-26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1972/02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309,000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93%→20%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$52.5M / $170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JetSet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Elme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18859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1400 K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Closed Oct-25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1982/24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200,000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65%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5.3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9.5%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$35.5M / $180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Taicoon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Brookfield / AussieSuper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18859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2033 K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Closed Jul-25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1975/19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128,767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38%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$20.3M / $170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In-Rel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ARA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18859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1325 G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Closed Jun-25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1969/04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305,259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62%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2.5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TBD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$25.0M / $82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Farmview / Newbond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US Bank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18859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1750 H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Closed Jun-25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2002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124,000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55%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3.8 Yr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TBD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$28.8M / $232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Douglas Dev.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State Farm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18859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300 M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Closed Jun-25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2001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282,354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3.8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11.5%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$28.0M / $100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Confidential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Potomac Inv.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18859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2101 L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Closed Dec-24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1975/07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375,000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75%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8.0 Yr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10.0%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$110.0M / $293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ELV / Beckham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JBGS / NW Mutual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18859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1250 H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Closed Nov-24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1992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196,490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53%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7.4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10.7%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$27.5M / $137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Banyan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Equity CW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18859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2001 L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Closed Oct-24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1986/14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172,135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6.3 Yr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10.7%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$30.6M / $180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Melrose / Cambridge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AEW o/b/o Swiss RE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18859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1899 L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Closed Mar-24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1978/22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150,502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56%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4.5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9.5%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$26.7M / $180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Taicoon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BlackRock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18859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700 6th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Bidding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2009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306,000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79%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7.8 Yr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11.8%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$85.0M / $278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TBD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Principal (Lender)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18859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1350 Eye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Bidding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1989/14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415,861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75%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8.0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10.0%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$130.0M / $348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TBD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MetLife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18859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1775 Penn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Awarded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1975/09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156,482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41%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5.5 Yr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12.8% (ROC)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$37.5M / $240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Confidential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Woodwind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18859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Sumner Square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Under Contract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1985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242,000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TBD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TBD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$63.0M / $261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Vireon Capital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62626"/>
                          </a:solidFill>
                          <a:latin typeface="Calibri"/>
                        </a:rPr>
                        <a:t>BXP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84048" y="4645152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95959"/>
                </a:solidFill>
                <a:latin typeface="Calibri"/>
              </a:rPr>
              <a:t>Commodity pricing: $100–$200 PSF, ~58% average occupancy, ~10.0% in-place cap. Source: Eastdil Secured Opinion of Value (Jun-2026).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128016"/>
            <a:ext cx="1325880" cy="20116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8229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262626"/>
                </a:solidFill>
                <a:latin typeface="Calibri Light"/>
              </a:rPr>
              <a:t>Select ES Office Financings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4846320"/>
            <a:ext cx="8375904" cy="0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84048" y="4882896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Calibri"/>
              </a:rPr>
              <a:t>Lincoln Property Company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4882896"/>
            <a:ext cx="37307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Confidential: Not For Distribution      |      13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932688"/>
            <a:ext cx="8375904" cy="56692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996696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3D3000"/>
                </a:solidFill>
                <a:latin typeface="Calibri"/>
              </a:rPr>
              <a:t>WASHINGTON, DC METRO — DEBT DATA POINTS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234440"/>
            <a:ext cx="5943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3D3000"/>
                </a:solidFill>
                <a:latin typeface="Calibri"/>
              </a:rPr>
              <a:t>Recent Eastdil Secured Office Financings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1024128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400" b="1" i="0">
                <a:solidFill>
                  <a:srgbClr val="3D3000"/>
                </a:solidFill>
                <a:latin typeface="Georgia"/>
              </a:rPr>
              <a:t>Lincoln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" y="1600200"/>
          <a:ext cx="8375904" cy="24688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1097280"/>
                <a:gridCol w="932688"/>
                <a:gridCol w="658368"/>
                <a:gridCol w="658368"/>
                <a:gridCol w="502920"/>
                <a:gridCol w="713232"/>
                <a:gridCol w="566928"/>
                <a:gridCol w="749808"/>
                <a:gridCol w="749808"/>
                <a:gridCol w="51206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740" b="1" i="0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1" i="0">
                          <a:solidFill>
                            <a:srgbClr val="FFFFFF"/>
                          </a:solidFill>
                          <a:latin typeface="Calibri"/>
                        </a:rPr>
                        <a:t>Sponsor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1" i="0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1" i="0">
                          <a:solidFill>
                            <a:srgbClr val="FFFFFF"/>
                          </a:solidFill>
                          <a:latin typeface="Calibri"/>
                        </a:rPr>
                        <a:t>SF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1" i="0">
                          <a:solidFill>
                            <a:srgbClr val="FFFFFF"/>
                          </a:solidFill>
                          <a:latin typeface="Calibri"/>
                        </a:rPr>
                        <a:t>% Leased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1" i="0">
                          <a:solidFill>
                            <a:srgbClr val="FFFFFF"/>
                          </a:solidFill>
                          <a:latin typeface="Calibri"/>
                        </a:rPr>
                        <a:t>WALT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1" i="0">
                          <a:solidFill>
                            <a:srgbClr val="FFFFFF"/>
                          </a:solidFill>
                          <a:latin typeface="Calibri"/>
                        </a:rPr>
                        <a:t>Loan Amt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1" i="0">
                          <a:solidFill>
                            <a:srgbClr val="FFFFFF"/>
                          </a:solidFill>
                          <a:latin typeface="Calibri"/>
                        </a:rPr>
                        <a:t>Loan PSF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1" i="0">
                          <a:solidFill>
                            <a:srgbClr val="FFFFFF"/>
                          </a:solidFill>
                          <a:latin typeface="Calibri"/>
                        </a:rPr>
                        <a:t>LTV / LTC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1" i="0">
                          <a:solidFill>
                            <a:srgbClr val="FFFFFF"/>
                          </a:solidFill>
                          <a:latin typeface="Calibri"/>
                        </a:rPr>
                        <a:t>In-Place DY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1" i="0">
                          <a:solidFill>
                            <a:srgbClr val="FFFFFF"/>
                          </a:solidFill>
                          <a:latin typeface="Calibri"/>
                        </a:rPr>
                        <a:t>Pricing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2001 M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Stream Realty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Closed Jan-26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283,190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93%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9.0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$118.5M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$418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69% LTC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13.3%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S+2.90%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1401 New York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Carr / Barings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Closed Jan-26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201,976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94%→81%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4.7 Yr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$73.4M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$344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68% LTC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13.9%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S+4.05%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Three-Asset Portfolio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Carr Properties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Closed Jul-25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791,098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89%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9.3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$278.3M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$352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60% LTV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12.0%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S+3.25%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901 K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Shorenstein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Closed Jun-25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220,000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68%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6.3 Yr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$76.1M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$346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67.5% LTC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12.6%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S+4.15%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Boro Tower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Rockefeller / TMG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Closed May-25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436,795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98%→88%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7.3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$175.0M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$401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70% LTV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11.5%→10.0%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S+4.75%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Market Square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Elliott / MC / PRP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Under Contract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694,436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90%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5.3 Yr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$340.0M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$490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70% LTV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12.0%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S+~2.75%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799 9th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Jemal Equities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Awarding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203,329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82%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6.5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$83.1M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$409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75% LTC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13.4%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S+~4.25%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Reston Metro Plaza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Comstock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Marketing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769,830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8.3 Yr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$299.1M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$389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75% LTV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9.6%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 i="0">
                          <a:solidFill>
                            <a:srgbClr val="262626"/>
                          </a:solidFill>
                          <a:latin typeface="Calibri"/>
                        </a:rPr>
                        <a:t>TBD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84048" y="43434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95959"/>
                </a:solidFill>
                <a:latin typeface="Calibri"/>
              </a:rPr>
              <a:t>Pricing shown as spread over 1-mo SOFR (S). Source: Eastdil Secured Opinion of Value (Jun-2026).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1732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5B400"/>
                </a:solidFill>
                <a:latin typeface="Calibri Light"/>
              </a:rPr>
              <a:t>Contact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7432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FFFFFF"/>
                </a:solidFill>
                <a:latin typeface="Calibri Light"/>
              </a:rPr>
              <a:t>Matt Nicholson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10896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Executive Vice President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38328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mnicholson@lpc.com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10128" y="27432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FFFFFF"/>
                </a:solidFill>
                <a:latin typeface="Calibri Light"/>
              </a:rPr>
              <a:t>Jackson Coviello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10128" y="310896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Assistant Vice President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10128" y="338328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jcoviello@lpc.com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53328" y="27432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FFFFFF"/>
                </a:solidFill>
                <a:latin typeface="Calibri Light"/>
              </a:rPr>
              <a:t>Jared Hicks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53328" y="310896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Analyst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53328" y="338328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jahicks@lpc.com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160520"/>
            <a:ext cx="5486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Lincoln Property Company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101 Constitution Ave. NW, Suite 325 East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Washington, DC 20001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www.lpc.com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