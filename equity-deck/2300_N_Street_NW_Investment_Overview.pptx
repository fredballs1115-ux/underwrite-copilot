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60520" y="0"/>
            <a:ext cx="4983480" cy="51435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60520" y="2286000"/>
            <a:ext cx="4983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8C8C8C"/>
                </a:solidFill>
                <a:latin typeface="Calibri"/>
              </a:rPr>
              <a:t>[ Insert 2300 N Street property photograph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3474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5B400"/>
                </a:solidFill>
                <a:latin typeface="Georgia"/>
              </a:rPr>
              <a:t>Lincoln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83080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 Light"/>
              </a:rPr>
              <a:t>Investment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23160"/>
            <a:ext cx="356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 Light"/>
              </a:rPr>
              <a:t>2300 N Street, NW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20440"/>
            <a:ext cx="3474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Washington, DC</a:t>
            </a:r>
          </a:p>
          <a:p>
            <a:pPr algn="l">
              <a:spcAft>
                <a:spcPts val="200"/>
              </a:spcAft>
            </a:pPr>
            <a:r>
              <a:rPr sz="1800" b="0" i="0">
                <a:solidFill>
                  <a:srgbClr val="FFFFFF"/>
                </a:solidFill>
                <a:latin typeface="Calibri"/>
              </a:rPr>
              <a:t>West End Submarket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5196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Lincoln Property Company  |  Oaktree Capital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70916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Confidential Equity Memorandum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691640"/>
            <a:ext cx="23774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73736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Property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52360" y="1737360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2395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Tenancy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395728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0540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3054096"/>
            <a:ext cx="1005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  <a:latin typeface="Calibri Light"/>
              </a:rPr>
              <a:t>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Property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4983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2300 N Street is a 282,943 SF, 8-story Class A office building in Washington, DC's supply-constrained West End submarket. Built in 1986 and renovated in 2018, the asset is 87.8% leased with 9.4 years of WALT and best-in-class amenities.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874519"/>
          <a:ext cx="498348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1188720"/>
                <a:gridCol w="1051560"/>
                <a:gridCol w="1417320"/>
              </a:tblGrid>
              <a:tr h="331470">
                <a:tc gridSpan="4"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3D3000"/>
                          </a:solidFill>
                          <a:latin typeface="Calibri"/>
                        </a:rPr>
                        <a:t>Property Description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Size (SF):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282,943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Submarket: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West End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Stories: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% Leased: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Year Built / Reno: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1986 / 2018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In-Place WALT: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9.4 Years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Typical Floor: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38,391 SF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Parking: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300 spaces (0.98/1,000 SF)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Building Class: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Class 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Zoning: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MU-10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Land Area: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1.13 AC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Metro: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Foggy Bottom-GWU (9-min walk)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Amenities: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Fitness, Roof Terrace,</a:t>
                      </a:r>
                    </a:p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Conferencing, Restaurant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Ownership: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Lincoln Property Co. / Oaktree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532120" y="9601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32120" y="17373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Property exterior photograph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32120" y="2788920"/>
            <a:ext cx="3227832" cy="173736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32120" y="3566160"/>
            <a:ext cx="32278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95959"/>
                </a:solidFill>
                <a:latin typeface="Calibri"/>
              </a:rPr>
              <a:t>[ Roof terrace / lobby photograph 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Location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4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60120"/>
            <a:ext cx="5257800" cy="361188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2651760"/>
            <a:ext cx="5257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595959"/>
                </a:solidFill>
                <a:latin typeface="Calibri"/>
              </a:rPr>
              <a:t>[ Insert West End aerial / location map ]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06440" y="960120"/>
            <a:ext cx="2953512" cy="365760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06440" y="1005840"/>
            <a:ext cx="29535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3D3000"/>
                </a:solidFill>
                <a:latin typeface="Calibri"/>
              </a:rPr>
              <a:t>Location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06440" y="1481328"/>
            <a:ext cx="2971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West End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DC's premier office submarket, bordering Georgetown, Foggy Bottom and the CBD.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Metro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Foggy Bottom-GWU (9-min walk), Dupont Circle (13-min), Farragut North (15-min).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Walkability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Walk Score 100, Transit 90, Bike 90 (“Exceptionally friendly”).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Hotels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Fairmont, Park Hyatt, Westin Georgetown, Ritz-Carlton and Marriott within 2–3 blocks.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00" b="1" i="0">
                <a:solidFill>
                  <a:srgbClr val="262626"/>
                </a:solidFill>
                <a:latin typeface="Calibri"/>
              </a:rPr>
              <a:t>Regional access</a:t>
            </a:r>
            <a:r>
              <a:rPr sz="1000" b="0" i="0">
                <a:solidFill>
                  <a:srgbClr val="262626"/>
                </a:solidFill>
                <a:latin typeface="Calibri"/>
              </a:rPr>
              <a:t> — Reagan National 12-min drive; Union Station / L'Enfant ~6–7 min.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CoStar (7/1/2026).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Value Considerations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005840"/>
            <a:ext cx="8375904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Hold Period: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A 5-year hold is consistent with target investment horizons for active office capital and aligns with available financing.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Return Metrics: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With material near-term leasing and capital, investors are likely to solve for an 18–20% levered IRR and a 12–14% stabilized return on cost.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Capital Projections: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Prior ownership invested ~$22.0M ($76 PSF) in base-building and amenity upgrades; $1.3M ($5 PSF) of outstanding TI/LCs is credited at closing; ES assumes a buyer underwrites $3.0M ($10 PSF) of near-term capital following sale.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Rents: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Eastdil is underwriting typical office rents of $55.00–63.50 FSG, building on recent leasing at the asset.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Stabilized Occupancy: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Occupancy steps to 77% after Aspen's downsize and Plan International's 2027 termination; ~40,000 SF of leasing in the first three years stabilizes occupancy at 90%.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Real Estate Taxes: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assumes a 20% decrease in assessed value following sale, to $104.6M ($370 PSF), growing at inflation thereafter.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Market Financing: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The most efficient structure is a floating-rate execution — 65% Initial LTV with 65% Future Funding for leasing/capex at SOFR + 3.75%.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10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100" b="1" i="0">
                <a:solidFill>
                  <a:srgbClr val="262626"/>
                </a:solidFill>
                <a:latin typeface="Calibri"/>
              </a:rPr>
              <a:t>Exit Cap Rate:  </a:t>
            </a:r>
            <a:r>
              <a:rPr sz="1100" b="0" i="0">
                <a:solidFill>
                  <a:srgbClr val="262626"/>
                </a:solidFill>
                <a:latin typeface="Calibri"/>
              </a:rPr>
              <a:t>ES underwrote a 9.5% exit cap, a $100.9M ($357 PSF) residual; absent clarity on Jackson &amp; Campbell, investors underwrite a vacate (~50 bps of residual impact).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Valuation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Levered-IRR sensitivity — 5-year hold beginning October 2026; 65% LTV / 65% future funding at SOFR + 3.75% (7.43% coupon).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783080"/>
          <a:ext cx="548640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822960"/>
                <a:gridCol w="822960"/>
                <a:gridCol w="822960"/>
                <a:gridCol w="822960"/>
                <a:gridCol w="822960"/>
              </a:tblGrid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Levered IRR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 gridSpan="5">
                  <a:txBody>
                    <a:bodyPr wrap="square"/>
                    <a:lstStyle/>
                    <a:p>
                      <a:pPr algn="ctr"/>
                      <a:r>
                        <a:rPr sz="1050" b="1" i="0">
                          <a:solidFill>
                            <a:srgbClr val="3D3000"/>
                          </a:solidFill>
                          <a:latin typeface="Calibri"/>
                        </a:rPr>
                        <a:t>Exit Cap Rate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Price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9.50%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10.00%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17.51%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16.37%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15.24%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13.01%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$72,500,000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19.33%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18.22%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17.12%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16.03%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14.96%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$70,000,000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21.19%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20.10%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3D3000"/>
                          </a:solidFill>
                          <a:latin typeface="Calibri"/>
                        </a:rPr>
                        <a:t>19.03%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17.97%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16.93%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$67,500,000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23.08%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19.95%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18.93%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3512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262626"/>
                          </a:solidFill>
                          <a:latin typeface="Calibri"/>
                        </a:rPr>
                        <a:t>$65,000,000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25.02%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23.99%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22.96%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21.96%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 i="0">
                          <a:solidFill>
                            <a:srgbClr val="262626"/>
                          </a:solidFill>
                          <a:latin typeface="Calibri"/>
                        </a:rPr>
                        <a:t>20.97%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26480" y="173736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At ~$70.0M / $247 PSF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214884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In-Place Cap Rate (87.8% occ)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21488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11.93%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459736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Adjusted Cap Rate (76.8% occ)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459736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8.86%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77063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Stabilized Return on Cost (Yr 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77063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12.04%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81527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Average Cash 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3081527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9.42%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392423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Levered IRR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392423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19.03%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37033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Equity Multiple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70332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2.14x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4014215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95959"/>
                </a:solidFill>
                <a:latin typeface="Calibri"/>
              </a:rPr>
              <a:t>Reversion PSF (9.50% exit)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60" y="4014215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262626"/>
                </a:solidFill>
                <a:latin typeface="Calibri"/>
              </a:rPr>
              <a:t>$357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160520"/>
            <a:ext cx="5486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95959"/>
                </a:solidFill>
                <a:latin typeface="Calibri"/>
              </a:rPr>
              <a:t>Loan balance of $100M implies a ~25–35% discount to par at the ES value range. Source: Eastdil Secured Opinion of Value (Jun-2026).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Operating Cash Flow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8366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</a:pPr>
            <a:r>
              <a:rPr sz="1200" b="0" i="0">
                <a:solidFill>
                  <a:srgbClr val="262626"/>
                </a:solidFill>
                <a:latin typeface="Calibri"/>
              </a:rPr>
              <a:t>Eastdil Secured five-year projection (years ending September 30). In-place NOI at 10/1/2026 is $8.35M; near-term dips reflect lease-up downtime and abatement before stabilization.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828800"/>
          <a:ext cx="8375904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40864"/>
                <a:gridCol w="1207008"/>
                <a:gridCol w="1207008"/>
                <a:gridCol w="1207008"/>
                <a:gridCol w="1207008"/>
                <a:gridCol w="1207008"/>
              </a:tblGrid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($)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2027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2028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2029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2030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FY 2031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Effective Gross Income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13,455,822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13,177,239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13,974,199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15,774,954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16,704,339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Total Operating Expenses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(6,942,899)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(6,538,241)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(6,703,809)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(6,904,521)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(7,083,080)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Net Operating Income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6,468,929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6,472,555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7,032,831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8,616,206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9,367,363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Total Capital (TI/LC + CapEx)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(1,748,577)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(4,070,547)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(3,217,200)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(71,398)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 i="0">
                          <a:solidFill>
                            <a:srgbClr val="262626"/>
                          </a:solidFill>
                          <a:latin typeface="Calibri"/>
                        </a:rPr>
                        <a:t>(215,515)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Net Cash Flow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4,720,352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2,402,008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3,815,631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8,544,808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 i="0">
                          <a:solidFill>
                            <a:srgbClr val="3D3000"/>
                          </a:solidFill>
                          <a:latin typeface="Calibri"/>
                        </a:rPr>
                        <a:t>9,151,849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43434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595959"/>
                </a:solidFill>
                <a:latin typeface="Calibri"/>
              </a:rPr>
              <a:t>Capital reflects ~$3.0M ($10 PSF) of building CapEx (front-loaded FY27–29) plus tenant TI/LCs. Source: Eastdil Secured Opinion of Value (Jun-2026).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Tenancy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Tenant Overview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84048" y="960120"/>
          <a:ext cx="5440680" cy="35661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640080"/>
                <a:gridCol w="822960"/>
                <a:gridCol w="640080"/>
                <a:gridCol w="868680"/>
                <a:gridCol w="1051560"/>
              </a:tblGrid>
              <a:tr h="274320">
                <a:tc gridSpan="6">
                  <a:txBody>
                    <a:bodyPr wrap="square"/>
                    <a:lstStyle/>
                    <a:p>
                      <a:pPr algn="ctr"/>
                      <a:r>
                        <a:rPr sz="1100" b="1" i="0">
                          <a:solidFill>
                            <a:srgbClr val="3D3000"/>
                          </a:solidFill>
                          <a:latin typeface="Calibri"/>
                        </a:rPr>
                        <a:t>Tenant Summary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Floors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Expiration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 i="0">
                          <a:solidFill>
                            <a:srgbClr val="262626"/>
                          </a:solidFill>
                          <a:latin typeface="Calibri"/>
                        </a:rPr>
                        <a:t>Gross Rent ($/SF)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¹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6-8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91,395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$71.56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BlackIvy / CINQCARE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 &amp; 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25,720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9.1%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$55.87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Bezos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4-5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May-32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$28.31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²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Aug-35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$51.47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Two Birds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17,275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6.1%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Jun-38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$52.53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16,722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Nov-36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$57.32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Plan International ³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15,485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Oct-27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$67.03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Sep-37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Jun-31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Bar Angie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Mar-40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0" i="0">
                          <a:solidFill>
                            <a:srgbClr val="262626"/>
                          </a:solidFill>
                          <a:latin typeface="Calibri"/>
                        </a:rPr>
                        <a:t>$44.25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Total Leased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248,300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87.8%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9.4 yrs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9" b="1" i="0">
                          <a:solidFill>
                            <a:srgbClr val="3D3000"/>
                          </a:solidFill>
                          <a:latin typeface="Calibri"/>
                        </a:rPr>
                        <a:t>$58.26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0" y="96012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262626"/>
                </a:solidFill>
                <a:latin typeface="Calibri Light"/>
              </a:rPr>
              <a:t>Key Considerations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325880"/>
            <a:ext cx="31089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88% leased today, stepping to 77% after Aspen's 6th-floor downsize — nearly 10 years of WALT.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65,000+ SF (23% of NRA) of new leasing since Q4 2024; ~$1.3M of TI/LCs credited to a buyer at close.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Anchor Aspen Institute extended through May-2041 across floors 6–8.</a:t>
            </a:r>
          </a:p>
          <a:p>
            <a:pPr algn="l">
              <a:lnSpc>
                <a:spcPct val="102000"/>
              </a:lnSpc>
              <a:spcAft>
                <a:spcPts val="8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Roll risk to watch: Plan International termination (Nov-2027) and Jackson &amp; Campbell sublease marketing ahead of its Aug-2035 expiry.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590288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1">
                <a:solidFill>
                  <a:srgbClr val="595959"/>
                </a:solidFill>
                <a:latin typeface="Calibri"/>
              </a:rPr>
              <a:t>¹ Gives back 15,536 SF Dec-2026, extends through May-2041.   ² 100% of space on sublease market; ES assumes vacate at expiry.   ³ Subleased; termination effective Nov-2027.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Leasing Activity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96696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2300 N STREET, NW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34440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Executed Leasing — Trailing 24 Months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24128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600200"/>
          <a:ext cx="8375903" cy="30632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874519"/>
                <a:gridCol w="777240"/>
                <a:gridCol w="685800"/>
                <a:gridCol w="548640"/>
                <a:gridCol w="777240"/>
                <a:gridCol w="777240"/>
                <a:gridCol w="868680"/>
                <a:gridCol w="658368"/>
                <a:gridCol w="749808"/>
                <a:gridCol w="658368"/>
              </a:tblGrid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Tenant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Suite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% NRA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Commence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Rent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Free Rent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TI ($/SF)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>
                          <a:solidFill>
                            <a:srgbClr val="FFFFFF"/>
                          </a:solidFill>
                          <a:latin typeface="Calibri"/>
                        </a:rPr>
                        <a:t>Reimb.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Aspen Institute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0700-0800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75,859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26.8%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$63.50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14 Yr 5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Compass Point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0450-0460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10,034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6/1/2026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$53.50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11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$100.00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Capital Power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0520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6,562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1/1/2026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5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Storage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0210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2,841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6/20/2025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$25.34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 Yr 10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Jackson &amp; Campbell (Renewal)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0300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23,735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 Yr 6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Holtzman Vogel (Exp.)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0610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10,280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$55.50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12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20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$135.00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Bezos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0400-0500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23,874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8.4%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$27.35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Global Impact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0501A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4,039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$44.00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7 Yr 4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Timmons (New)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0410B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2/1/2025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$46.51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 Yr 9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$0.00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FSG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Bar Angie (New)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0100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4,435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1.6%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10/1/2024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$41.71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15 Yr 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6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$281.85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0" i="0">
                          <a:solidFill>
                            <a:srgbClr val="262626"/>
                          </a:solidFill>
                          <a:latin typeface="Calibri"/>
                        </a:rPr>
                        <a:t>NNN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255270">
                <a:tc>
                  <a:txBody>
                    <a:bodyPr wrap="square"/>
                    <a:lstStyle/>
                    <a:p>
                      <a:pPr algn="l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Total / Avg.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165,414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58.5%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$52.80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139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7.2 Mo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>$22.01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80" b="1" i="0">
                          <a:solidFill>
                            <a:srgbClr val="3D3000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  Rents shown gross.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Market Leasing Assumptions &amp; Capital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960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Market Leasing Assumptions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84048" y="1325880"/>
          <a:ext cx="4754880" cy="28346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658368"/>
                <a:gridCol w="566928"/>
                <a:gridCol w="566928"/>
                <a:gridCol w="594360"/>
                <a:gridCol w="768096"/>
              </a:tblGrid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Space Type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Rent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Renew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Down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TI (N/R)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(Floors 7-8)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$63.50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 6)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$59.00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(Floors 4-5)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$57.50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Office (Floor 3)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11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$120/$80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Town Hall Suites (4-5)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$54.00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12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8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$75/$25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Spec Suite (Floor 6)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$52.00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5.7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$50/$35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$36 Gross (Fl 2, 4-6)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$36.00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18 mo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8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$100/$30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1496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Retail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$45.00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12 mo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10 Yr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$95/$20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84048" y="41605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1">
                <a:solidFill>
                  <a:srgbClr val="595959"/>
                </a:solidFill>
                <a:latin typeface="Calibri"/>
              </a:rPr>
              <a:t>Global: 2.5% inflation, 3.0% mgmt fee, $0.25 PSF reserves, 2.5% in-term bumps. Source: Eastdil Secured Opinion of Value (Jun-2026).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96012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62626"/>
                </a:solidFill>
                <a:latin typeface="Calibri Light"/>
              </a:rPr>
              <a:t>Capital Plan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394960" y="1325880"/>
          <a:ext cx="3364992" cy="24688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267712"/>
                <a:gridCol w="640080"/>
                <a:gridCol w="457200"/>
              </a:tblGrid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Amount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Calibri"/>
                        </a:rPr>
                        <a:t>PSF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Prior Ownership Renovation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$21.5M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$76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Roof Terrace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$4.6M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$16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Common Areas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$2.3M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$8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Main Lobby / AC Units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$4.0M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$14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Fitness / Elevators / Garage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$4.0M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$14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   Other base-building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$6.6M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0" i="0">
                          <a:solidFill>
                            <a:srgbClr val="262626"/>
                          </a:solidFill>
                          <a:latin typeface="Calibri"/>
                        </a:rPr>
                        <a:t>$23</a:t>
                      </a:r>
                    </a:p>
                  </a:txBody>
                  <a:tcPr anchor="ctr" marL="45720" marR="36576" marT="9144" marB="9144">
                    <a:solidFill>
                      <a:srgbClr val="EDEDED"/>
                    </a:solidFill>
                  </a:tcPr>
                </a:tc>
              </a:tr>
              <a:tr h="308610">
                <a:tc>
                  <a:txBody>
                    <a:bodyPr wrap="square"/>
                    <a:lstStyle/>
                    <a:p>
                      <a:pPr algn="l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Future Capital Plan (2026-28)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$3.0M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30" b="1" i="0">
                          <a:solidFill>
                            <a:srgbClr val="3D3000"/>
                          </a:solidFill>
                          <a:latin typeface="Calibri"/>
                        </a:rPr>
                        <a:t>$11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394960" y="3886200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 i="1">
                <a:solidFill>
                  <a:srgbClr val="595959"/>
                </a:solidFill>
                <a:latin typeface="Calibri"/>
              </a:rPr>
              <a:t>RE taxes: ES assumes a 20% assessment reduction post-sale to $104.6M ($370 PSF), growing at inflation. $1.3M of outstanding TI/LCs credited at close.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B0A4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548640"/>
            <a:ext cx="8229600" cy="41148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20000" b="1" i="0">
                <a:solidFill>
                  <a:srgbClr val="BEB2D2"/>
                </a:solidFill>
                <a:latin typeface="Georgia"/>
              </a:rPr>
              <a:t>Lincoln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011680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0" i="0">
                <a:solidFill>
                  <a:srgbClr val="000000"/>
                </a:solidFill>
                <a:latin typeface="Calibri Light"/>
              </a:rPr>
              <a:t>Market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Washington, DC Metro Office Market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60120"/>
            <a:ext cx="4114800" cy="365760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3D3000"/>
                </a:solidFill>
                <a:latin typeface="Calibri"/>
              </a:rPr>
              <a:t>The Good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45152" y="960120"/>
            <a:ext cx="4114800" cy="365760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45152" y="100584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What's Challenging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1463040"/>
            <a:ext cx="40690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Office trade volume is accelerating — 3rd-highest 2025 US volume and 2nd-highest number of transactions.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The return-to-office mandate has increased DC activity and added contractor demand.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Pricing bands for office have formed.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Newer-vintage product outperforms — nearly all net absorption is in post-2010 built/renovated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Record rents are being achieved for new construction and high-quality space.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</a:pPr>
            <a:r>
              <a:rPr sz="1050" b="1" i="0">
                <a:solidFill>
                  <a:srgbClr val="F5B400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Minimal new supply plus 6.9 MSF of office→residential/hotel conversions will keep improving fundamentals.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1463040"/>
            <a:ext cx="41148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DC headlines (DOGE, GSA footprint, tariffs, National Guard, shutdown) create hurdles for investors.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Headline vacancy above 20% in most submarkets is forcing heightened concessions, especially for commodity product.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Leasing velocity remains mixed outside of Class-A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</a:pPr>
            <a:r>
              <a:rPr sz="1050" b="1" i="0">
                <a:solidFill>
                  <a:srgbClr val="222222"/>
                </a:solidFill>
                <a:latin typeface="Calibri"/>
              </a:rPr>
              <a:t>▪  </a:t>
            </a:r>
            <a:r>
              <a:rPr sz="1050" b="0" i="0">
                <a:solidFill>
                  <a:srgbClr val="262626"/>
                </a:solidFill>
                <a:latin typeface="Calibri"/>
              </a:rPr>
              <a:t>Investors are underwriting significant capital amid escalating costs for non-trophy assets.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4617720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95959"/>
                </a:solidFill>
                <a:latin typeface="Calibri"/>
              </a:rPr>
              <a:t>Source: Eastdil Secured Opinion of Value (Jun-2026).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Data Points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7840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WASHINGTON, DC — CLASS-A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16152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Recent &amp; Active Comparable Transactions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05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72768"/>
          <a:ext cx="8375903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96112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  <a:gridCol w="679981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888 16th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Hamilton Square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799 9th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1330 Connecticut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1401 New York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901 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District Wharf</a:t>
                      </a:r>
                    </a:p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(670/680/1000 Maine)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District Wharf</a:t>
                      </a:r>
                    </a:p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(800 Maine)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2000 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50" b="1" i="0">
                          <a:solidFill>
                            <a:srgbClr val="FFFFFF"/>
                          </a:solidFill>
                          <a:latin typeface="Calibri"/>
                        </a:rPr>
                        <a:t>1099 New York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/>
                      <a:r>
                        <a:rPr sz="62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Jan-26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May-25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Jul-24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1" i="0">
                          <a:solidFill>
                            <a:srgbClr val="3D3000"/>
                          </a:solidFill>
                          <a:latin typeface="Calibri"/>
                        </a:rPr>
                        <a:t>Closed Mar-24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Size (SF)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107,000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248,000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205,000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259,000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284,000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211,000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750,000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150,000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233,000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181,000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94%→81%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6.6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11.1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13.0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7.0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8.50%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9.75%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11.50→9.00%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6.50%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8.00%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9.25%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Price (PSF)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$700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$127.5M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$514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$100.0M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$488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$92.5M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$358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$163.3M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$577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$402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$386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$628.0M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$835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$63.2M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$425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$140.2M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$600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$95.0M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$525 PSF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Confidential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PSP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Spear Street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FarmView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Quadrangle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Trammell Crow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Meadow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CommonWealth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CalPERS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Brookfield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AussieSuper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Brookfield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AXA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Hoffman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Madison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Hoffman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Madison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Tishman /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Deka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Credit Suisse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/>
                      <a:r>
                        <a:rPr sz="620" b="1" i="0">
                          <a:solidFill>
                            <a:srgbClr val="262626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Condo Regime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(Debt Fund)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Seller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Financing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Market Debt</a:t>
                      </a:r>
                    </a:p>
                    <a:p>
                      <a:pPr algn="ctr"/>
                      <a:r>
                        <a:rPr sz="620" b="0" i="0">
                          <a:solidFill>
                            <a:srgbClr val="262626"/>
                          </a:solidFill>
                          <a:latin typeface="Calibri"/>
                        </a:rPr>
                        <a:t>(CMBS)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Data Points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15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7840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WASHINGTON, DC — COMMODITY SALES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16152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Recent &amp; Active Comparable Transactions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05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72768"/>
          <a:ext cx="8375898" cy="31089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841248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  <a:gridCol w="50231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700 6th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1350 Eye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1775 Penn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Sumner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Square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2445 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Watergate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1400 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2033 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1325 G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1750 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300 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2101 L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1250 H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2001 L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1899 L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56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Bidding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Awarded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Under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FFFFFF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Apr-26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Mar-26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Oct-25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Jul-25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Dec-24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Nov-24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Oct-24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560" b="1" i="0">
                          <a:solidFill>
                            <a:srgbClr val="3D3000"/>
                          </a:solidFill>
                          <a:latin typeface="Calibri"/>
                        </a:rPr>
                        <a:t>Mar-24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Size (SF)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306,000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415,861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156,482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242,000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309,000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128,767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305,259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124,000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282,354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375,000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196,490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172,135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150,502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Year Built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1989/14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1985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1986/19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1972/02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1982/24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1975/19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1969/04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1975/07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1992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1986/14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1978/22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79%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41%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80→75%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93→20%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53%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56%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7.7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2.5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3.8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8.0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7.4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4.5 Yr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Cap Rate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11.8%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12.8%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(ROC)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9.0→8.5%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11.5%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10.7%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9.5%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Price (PSF)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$85M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$278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$130M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$348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$37.5M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$240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$63.0M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$261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$101.0M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$337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$52.5M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$170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$35.5M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$20.3M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$170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$25.0M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$82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$28.8M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$232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$28.0M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$100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$110.0M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$293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$27.5M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$137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$30.55M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$26.65M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$180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Buyer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Confid.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Vireon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Eagle Cliff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JetSet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In-Rel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Farmview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Douglas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Confid.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ELV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Banyan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Melrose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Taicoon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560" b="1" i="0">
                          <a:solidFill>
                            <a:srgbClr val="262626"/>
                          </a:solidFill>
                          <a:latin typeface="Calibri"/>
                        </a:rPr>
                        <a:t>Seller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Principal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(Lender)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MetLife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Woodwind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BXP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Mesa West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Elme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Brookfield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ARA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US Bank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State Farm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Potomac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JBGS /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NW Mutual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Equity CW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AEW /</a:t>
                      </a:r>
                    </a:p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Swiss RE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560" b="0" i="0">
                          <a:solidFill>
                            <a:srgbClr val="262626"/>
                          </a:solidFill>
                          <a:latin typeface="Calibri"/>
                        </a:rPr>
                        <a:t>BlackRock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128016"/>
            <a:ext cx="1325880" cy="20116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8229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0" i="0">
                <a:solidFill>
                  <a:srgbClr val="262626"/>
                </a:solidFill>
                <a:latin typeface="Calibri Light"/>
              </a:rPr>
              <a:t>Recent Data Points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84048" y="4846320"/>
            <a:ext cx="8375904" cy="0"/>
          </a:xfrm>
          <a:prstGeom prst="bentConnector3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384048" y="4882896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595959"/>
                </a:solidFill>
                <a:latin typeface="Calibri"/>
              </a:rPr>
              <a:t>Lincoln Property Company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4882896"/>
            <a:ext cx="373075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595959"/>
                </a:solidFill>
                <a:latin typeface="Calibri"/>
              </a:rPr>
              <a:t>Confidential: Not For Distribution      |     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14400"/>
            <a:ext cx="8375904" cy="566928"/>
          </a:xfrm>
          <a:prstGeom prst="rect">
            <a:avLst/>
          </a:prstGeom>
          <a:solidFill>
            <a:srgbClr val="F5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978408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D3000"/>
                </a:solidFill>
                <a:latin typeface="Calibri"/>
              </a:rPr>
              <a:t>WASHINGTON, DC METRO — DEBT DATA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216152"/>
            <a:ext cx="5943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D3000"/>
                </a:solidFill>
                <a:latin typeface="Calibri"/>
              </a:rPr>
              <a:t>Recent Eastdil Secured Office Financings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00584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400" b="1" i="0">
                <a:solidFill>
                  <a:srgbClr val="3D3000"/>
                </a:solidFill>
                <a:latin typeface="Georgia"/>
              </a:rPr>
              <a:t>Lincoln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84048" y="1572768"/>
          <a:ext cx="8375904" cy="3108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70432"/>
                <a:gridCol w="900684"/>
                <a:gridCol w="900684"/>
                <a:gridCol w="900684"/>
                <a:gridCol w="900684"/>
                <a:gridCol w="900684"/>
                <a:gridCol w="900684"/>
                <a:gridCol w="900684"/>
                <a:gridCol w="900684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60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Reston Metro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Plaza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799 9th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St, NW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Square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2001 M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1401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New York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Three-Asset</a:t>
                      </a:r>
                    </a:p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901 K St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60" b="1" i="0">
                          <a:solidFill>
                            <a:srgbClr val="FFFFFF"/>
                          </a:solidFill>
                          <a:latin typeface="Calibri"/>
                        </a:rPr>
                        <a:t>Boro Tower</a:t>
                      </a:r>
                    </a:p>
                  </a:txBody>
                  <a:tcPr anchor="ctr" marL="45720" marR="36576" marT="9144" marB="9144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60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1">
                          <a:solidFill>
                            <a:srgbClr val="595959"/>
                          </a:solidFill>
                          <a:latin typeface="Calibri"/>
                        </a:rPr>
                        <a:t>[ photo ]</a:t>
                      </a:r>
                    </a:p>
                  </a:txBody>
                  <a:tcPr anchor="ctr" marL="45720" marR="36576" marT="9144" marB="9144">
                    <a:solidFill>
                      <a:srgbClr val="DDDDDD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600" b="0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Awarding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Under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FFFFFF"/>
                          </a:solidFill>
                          <a:latin typeface="Calibri"/>
                        </a:rPr>
                        <a:t>Contract</a:t>
                      </a:r>
                    </a:p>
                  </a:txBody>
                  <a:tcPr anchor="ctr" marL="45720" marR="36576" marT="9144" marB="9144">
                    <a:solidFill>
                      <a:srgbClr val="8C8C8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Jan-26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Jan-26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Jul-25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Jun-25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Closed</a:t>
                      </a:r>
                    </a:p>
                    <a:p>
                      <a:pPr algn="ctr"/>
                      <a:r>
                        <a:rPr sz="600" b="1" i="0">
                          <a:solidFill>
                            <a:srgbClr val="3D3000"/>
                          </a:solidFill>
                          <a:latin typeface="Calibri"/>
                        </a:rPr>
                        <a:t>May-25</a:t>
                      </a:r>
                    </a:p>
                  </a:txBody>
                  <a:tcPr anchor="ctr" marL="45720" marR="36576" marT="9144" marB="9144">
                    <a:solidFill>
                      <a:srgbClr val="F5B400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Sponsor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Comstock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Jemal Equities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Elliott / MC /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PRP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Stream Realty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Carr / Barings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Carr Properties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Shorenstein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Rockefeller /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TMG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SF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769,830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203,329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694,436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283,190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201,976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791,098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220,000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436,795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WALT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8.3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6.5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5.3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9.0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4.7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7.3 Yr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% Leased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82%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94→81%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98→88%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Loan Amount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$299.1M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$83.1M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$340.0M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$118.5M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$73.4M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$278.3M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$76.1M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$175.0M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Loan PSF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$389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$409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$490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$418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$344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$352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$346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$401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LTV / LTC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75%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75% LTC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69% LTC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(68%I/75%FF)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68% LTC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(65%I/84%FF)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67.5% LTC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(60%I/100%FF)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70% LTV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In-Place DY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9.6%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13.4%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13.3%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13.9%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12.0%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12.6%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11.5→10.0%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Lender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SASB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Bank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Balance Sheet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Debt Fund</a:t>
                      </a:r>
                    </a:p>
                  </a:txBody>
                  <a:tcPr anchor="ctr" marL="45720" marR="36576" marT="9144" marB="9144">
                    <a:solidFill>
                      <a:srgbClr val="FFFFFF"/>
                    </a:solidFill>
                  </a:tcPr>
                </a:tc>
              </a:tr>
              <a:tr h="212140">
                <a:tc>
                  <a:txBody>
                    <a:bodyPr wrap="square"/>
                    <a:lstStyle/>
                    <a:p>
                      <a:pPr algn="l"/>
                      <a:r>
                        <a:rPr sz="600" b="1" i="0">
                          <a:solidFill>
                            <a:srgbClr val="262626"/>
                          </a:solidFill>
                          <a:latin typeface="Calibri"/>
                        </a:rPr>
                        <a:t>Pricing</a:t>
                      </a:r>
                    </a:p>
                  </a:txBody>
                  <a:tcPr anchor="ctr" marL="45720" marR="36576" marT="9144" marB="9144">
                    <a:solidFill>
                      <a:srgbClr val="FBEFC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TBD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~4.25%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~2.75%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2.90%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4.05%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3.25%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4.15%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SOFR + 4.75%</a:t>
                      </a:r>
                    </a:p>
                    <a:p>
                      <a:pPr algn="ctr"/>
                      <a:r>
                        <a:rPr sz="600" b="0" i="0">
                          <a:solidFill>
                            <a:srgbClr val="262626"/>
                          </a:solidFill>
                          <a:latin typeface="Calibri"/>
                        </a:rPr>
                        <a:t>(+4.40% b/d)</a:t>
                      </a:r>
                    </a:p>
                  </a:txBody>
                  <a:tcPr anchor="ctr" marL="45720" marR="36576" marT="9144" marB="9144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84048" y="1417320"/>
            <a:ext cx="2743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5B400"/>
                </a:solidFill>
                <a:latin typeface="Calibri Light"/>
              </a:rPr>
              <a:t>Contact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Matt Nicholson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Executive Vice President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mnicholson@lpc.com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Jake Guttman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Director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jguttman@lpc.com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Jackson Coviello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Assistant Vice President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jcoviello@lpc.com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3720" y="2743200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  <a:latin typeface="Calibri Light"/>
              </a:rPr>
              <a:t>Jared Hicks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12724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Analyst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3832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jahicks@lpc.com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16052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Lincoln Property Company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101 Constitution Ave. NW, Suite 325 East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Washington, DC 20001</a:t>
            </a:r>
          </a:p>
          <a:p>
            <a:pPr algn="l">
              <a:spcAft>
                <a:spcPts val="3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www.lpc.com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