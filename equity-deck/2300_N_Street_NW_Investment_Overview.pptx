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60520" y="0"/>
            <a:ext cx="4983480" cy="51435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60520" y="228600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[ Insert 2300 N Street property photograph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19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737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73736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95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957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540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05409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3147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532120" y="9601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373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Property exterior photograph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7889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5661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Roof terrace / lobby photograph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Location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5257800" cy="3611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2651760"/>
            <a:ext cx="5257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[ Insert West End aerial / location map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960120"/>
            <a:ext cx="2953512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005840"/>
            <a:ext cx="2953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3000"/>
                </a:solidFill>
                <a:latin typeface="Calibri"/>
              </a:rPr>
              <a:t>Location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481328"/>
            <a:ext cx="2971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West End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DC's premier office submarket, bordering Georgetown, Foggy Bottom and the CBD.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Metro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Foggy Bottom-GWU (9-min walk), Dupont Circle (13-min), Farragut North (15-min).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Walkability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Walk Score 100, Transit 90, Bike 90 (“Exceptionally friendly”).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Hotels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Fairmont, Park Hyatt, Westin Georgetown, Ritz-Carlton and Marriott within 2–3 blocks.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Regional access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Reagan National 12-min drive; Union Station / L'Enfant ~6–7 min.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CoStar (7/1/2026).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Value Considerations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837590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Hold Period: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A 5-year hold is consistent with target investment horizons for active office capital and aligns with available financing.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Return Metrics: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With material near-term leasing and capital, investors are likely to solve for an 18–20% levered IRR and a 12–14% stabilized return on cost.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Capital Projections: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Prior ownership invested ~$22.0M ($76 PSF) in base-building and amenity upgrades; $1.3M ($5 PSF) of outstanding TI/LCs is credited at closing; ES assumes a buyer underwrites $3.0M ($10 PSF) of near-term capital following sale.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Rents: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Eastdil is underwriting typical office rents of $55.00–63.50 FSG, building on recent leasing at the asset.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Stabilized Occupancy: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Occupancy steps to 77% after Aspen's downsize and Plan International's 2027 termination; ~40,000 SF of leasing in the first three years stabilizes occupancy at 90%.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Real Estate Taxes: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assumes a 20% decrease in assessed value following sale, to $104.6M ($370 PSF), growing at inflation thereafter.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Financing: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The most efficient structure is a floating-rate execution — 65% Initial LTV with 65% Future Funding for leasing/capex at SOFR + 3.75%.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Exit Cap Rate: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underwrote a 9.5% exit cap, a $100.9M ($357 PSF) residual; absent clarity on Jackson &amp; Campbell, investors underwrite a vacate (~50 bps of residual impact).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Levered-IRR sensitivity — 5-year hold beginning October 2026;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Loan balance of $100M implies a ~25–35% discount to par at the ES value range. Source: Eastdil Secured Opinion of Value (Jun-2026).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Operating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Eastdil Secured five-year projection (years ending September 30). In-place NOI at 10/1/2026 is $8.35M; near-term dips reflect lease-up downtime and abatement before stabilization.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28800"/>
          <a:ext cx="8375904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40864"/>
                <a:gridCol w="1207008"/>
                <a:gridCol w="1207008"/>
                <a:gridCol w="1207008"/>
                <a:gridCol w="1207008"/>
                <a:gridCol w="1207008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($)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2027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2028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2029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2030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2031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Effective Gross Income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13,455,822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13,177,239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13,974,199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15,774,954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16,704,339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Operating Expenses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(6,942,899)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(6,538,241)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(6,703,809)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(6,904,521)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(7,083,080)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Operating Income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6,468,929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6,472,555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7,032,831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8,616,206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9,367,363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Capital (TI/LC + CapEx)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(1,748,577)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(4,070,547)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(3,217,200)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(71,398)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(215,515)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4,720,352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2,402,008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3,815,631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8,544,808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9,151,849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343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Capital reflects ~$3.0M ($10 PSF) of building CapEx (front-loaded FY27–29) plus tenant TI/LCs. Source: Eastdil Secured Opinion of Value (Jun-2026).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—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Leasing Activity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2300 N STREET, NW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Executed Leasing — Trailing 24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3" cy="3063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777240"/>
                <a:gridCol w="685800"/>
                <a:gridCol w="548640"/>
                <a:gridCol w="777240"/>
                <a:gridCol w="777240"/>
                <a:gridCol w="868680"/>
                <a:gridCol w="658368"/>
                <a:gridCol w="749808"/>
                <a:gridCol w="658368"/>
              </a:tblGrid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Commence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Rent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Free 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Reimb.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0700-0800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75,859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26.8%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14 Yr 5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0450-0460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6/1/2026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11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$100.00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5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Storage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0210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2,841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6/20/2025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$25.34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 Yr 10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0300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0610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10,280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12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$135.00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Bezos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0400-0500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$27.35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Global Impact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0501A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$44.00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Timmons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0410B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$46.51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 Yr 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0100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10/1/2024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$41.71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15 Yr 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$281.85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Total / Avg.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165,414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58.5%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$52.80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139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7.2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$22.01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  Rents shown gross.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Market Leasing Assumptions &amp;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Market Leasing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47548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658368"/>
                <a:gridCol w="566928"/>
                <a:gridCol w="566928"/>
                <a:gridCol w="594360"/>
                <a:gridCol w="768096"/>
              </a:tblGrid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Space Type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Renew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Down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TI (N/R)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7-8)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$59.00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$57.50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3)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Town Hall Suites (4-5)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$54.00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$75/$25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Spec Suite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$52.00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5.7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$50/$35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 Gross (Fl 2, 4-6)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$100/$30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Retail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$95/$20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Global: 2.5% inflation, 3.0% mgmt fee, $0.25 PSF reserves, 2.5% in-term bumps. Source: Eastdil Secured Opinion of Value (Jun-2026).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9601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Capital Plan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94960" y="1325880"/>
          <a:ext cx="3364992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67712"/>
                <a:gridCol w="640080"/>
                <a:gridCol w="457200"/>
              </a:tblGrid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Prior Ownership Renovation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$21.5M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$76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Roof Terrace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Common Areas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Main Lobby / AC Units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Fitness / Elevators / Garage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Other base-building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Future Capital Plan (2026-28)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$3.0M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94960" y="38862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RE taxes: ES assumes a 20% assessment reduction post-sale to $104.6M ($370 PSF), growing at inflation. $1.3M of outstanding TI/LCs credited at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Washington, DC Metro Office 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4114800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D3000"/>
                </a:solidFill>
                <a:latin typeface="Calibri"/>
              </a:rPr>
              <a:t>The Good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45152" y="960120"/>
            <a:ext cx="4114800" cy="3657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What's Challenging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63040"/>
            <a:ext cx="4069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Office trade volume is accelerating — 3rd-highest 2025 US volume and 2nd-highest number of transactions.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The return-to-office mandate has increased DC activity and added contractor demand.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Pricing bands for office have formed.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Newer-vintage product outperforms — nearly all net absorption is in post-2010 built/renovated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Record rents are being achieved for new construction and high-quality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Minimal new supply plus 6.9 MSF of office→residential/hotel conversions will keep improving fundamentals.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DC headlines (DOGE, GSA footprint, tariffs, National Guard, shutdown) create hurdles for investors.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Headline vacancy above 20% in most submarkets is forcing heightened concessions, especially for commodity product.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Leasing velocity remains mixed outside of Class-A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Investors are underwriting significant capital amid escalating costs for non-trophy assets.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Class-A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71600"/>
          <a:ext cx="8375903" cy="3310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96112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888 16th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Hamilton 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1330 Connecticut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(670/680/1000 Maine)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(800 Maine)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2000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1099 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Jul-24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107,000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248,000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259,000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211,000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233,000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181,000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11.50→9.00%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$127.5M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$514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$100.0M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$488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$92.5M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$577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$402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$386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$628.0M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$63.2M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$140.2M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Spear Street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FarmView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Quadrangle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Trammell Crow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Meadow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CommonWealth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CalPERS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AXA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Tishman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Deka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Credit Suisse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8317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Condo Regime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Financing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Commodity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8375898" cy="33558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41248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700 6th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1350 Eye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1775 Penn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Sumner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2445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Watergate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1400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2033 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1325 G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1750 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300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2101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1250 H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2001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1899 L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Apr-26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Oct-25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Dec-24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Nov-24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Oct-24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Mar-24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306,000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415,861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156,482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242,000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128,767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305,259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282,354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375,000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196,490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172,135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150,502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Year Built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1989/14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1972/02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1982/24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1969/04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1978/22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80→75%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93→20%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7.7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7.4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12.8%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(ROC)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9.0→8.5%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$348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$240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$63.0M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$101.0M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$52.5M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$35.5M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$20.3M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$25.0M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$28.8M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$232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$110.0M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$30.55M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$26.65M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Vireon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Eagle Cliff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JetSet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In-Rel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Farmview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Douglas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Banyan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Melrose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66319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1F3864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Principal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(Lender)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MetLife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Woodwind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Mesa West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ARA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US Bank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State Farm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Potomac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JBGS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NW Mutual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Equity CW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AEW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Swiss RE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18288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595959"/>
                </a:solidFill>
                <a:latin typeface="Calibri"/>
              </a:rPr>
              <a:t>2300 N STREET, NW  |  ES OPINION OF VALUE  |  JUN-26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F3864"/>
                </a:solidFill>
                <a:latin typeface="Calibri"/>
              </a:rPr>
              <a:t>Washington, DC Recent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8961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A9C7"/>
                </a:solidFill>
                <a:latin typeface="Calibri"/>
              </a:rPr>
              <a:t>Select ES Office Financings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8375904" cy="3355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Reston Metro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Plaza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St, NW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1401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New York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Three-Asset</a:t>
                      </a:r>
                    </a:p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901 K St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Calibri"/>
                        </a:rPr>
                        <a:t>Boro Tower</a:t>
                      </a:r>
                    </a:p>
                  </a:txBody>
                  <a:tcPr anchor="ctr" marL="45720" marR="36576" marT="9144" marB="9144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Awarding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2CA9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May-25</a:t>
                      </a:r>
                    </a:p>
                  </a:txBody>
                  <a:tcPr anchor="ctr" marL="45720" marR="36576" marT="9144" marB="9144">
                    <a:solidFill>
                      <a:srgbClr val="57A639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Comstock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Jemal Equities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Elliott / MC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PRP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Rockefeller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TMG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769,830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203,329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694,436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283,190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201,976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791,098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436,795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98→88%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Loan Amount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$299.1M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$340.0M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$118.5M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$73.4M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$278.3M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$76.1M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Loan PSF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$418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LTV / LTC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69%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(68%I/75%FF)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(65%I/84%FF)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67.5% LTC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(60%I/100%FF)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In-Place DY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11.5→10.0%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Lender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SASB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Bank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Balance Sheet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2585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1F3864"/>
                          </a:solidFill>
                          <a:latin typeface="Calibri"/>
                        </a:rPr>
                        <a:t>Pricing</a:t>
                      </a:r>
                    </a:p>
                  </a:txBody>
                  <a:tcPr anchor="ctr" marL="45720" marR="36576" marT="9144" marB="9144">
                    <a:solidFill>
                      <a:srgbClr val="D9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~4.25%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~2.75%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4.05%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3.25%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SOFR + 4.75%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(+4.40% b/d)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Jake Guttman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jguttman@lpc.com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